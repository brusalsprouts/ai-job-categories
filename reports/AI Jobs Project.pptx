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7"/>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Lst>
  <p:sldSz cx="12192000" cy="6858000"/>
  <p:notesSz cx="6858000" cy="9144000"/>
  <p:defaultTextStyle>
    <a:defPPr>
      <a:buNone/>
    </a:defPPr>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4" d="100"/>
          <a:sy n="104" d="100"/>
        </p:scale>
        <p:origin x="788" y="7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Opening problem statement supplied by the presenter. The project scope is North America, but the analyzed sample covers only U.S. and Canadian postings.</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Source: Final_Report.docx, AI Job Salary Analysis, Bruno Sanchez Parra. </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B81F9C-F117-9D27-A671-80E828999A4F}"/>
              </a:ext>
            </a:extLst>
          </p:cNvPr>
          <p:cNvSpPr>
            <a:spLocks noGrp="1"/>
          </p:cNvSpPr>
          <p:nvPr>
            <p:ph type="ctrTitle"/>
          </p:nvPr>
        </p:nvSpPr>
        <p:spPr>
          <a:xfrm>
            <a:off x="1524000" y="1122363"/>
            <a:ext cx="9144000" cy="2387600"/>
          </a:xfrm>
        </p:spPr>
        <p:txBody>
          <a:bodyPr anchor="b"/>
          <a:lstStyle>
            <a:lvl1pPr algn="ctr">
              <a:buNone/>
              <a:defRPr sz="6000"/>
            </a:lvl1pPr>
          </a:lstStyle>
          <a:p>
            <a:r>
              <a:t>Click to edit Master title style</a:t>
            </a:r>
          </a:p>
        </p:txBody>
      </p:sp>
      <p:sp>
        <p:nvSpPr>
          <p:cNvPr id="3" name="Subtitle 2">
            <a:extLst>
              <a:ext uri="{FF2B5EF4-FFF2-40B4-BE49-F238E27FC236}">
                <a16:creationId xmlns:a16="http://schemas.microsoft.com/office/drawing/2014/main" id="{3CC9EB56-0B8D-6892-A5C8-7A2948BDE2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t>Click to edit Master subtitle style</a:t>
            </a:r>
          </a:p>
        </p:txBody>
      </p:sp>
      <p:sp>
        <p:nvSpPr>
          <p:cNvPr id="4" name="Date Placeholder 3">
            <a:extLst>
              <a:ext uri="{FF2B5EF4-FFF2-40B4-BE49-F238E27FC236}">
                <a16:creationId xmlns:a16="http://schemas.microsoft.com/office/drawing/2014/main" id="{C45A4015-A348-EE7E-267A-C83344BB7501}"/>
              </a:ext>
            </a:extLst>
          </p:cNvPr>
          <p:cNvSpPr>
            <a:spLocks noGrp="1"/>
          </p:cNvSpPr>
          <p:nvPr>
            <p:ph type="dt" idx="10"/>
          </p:nvPr>
        </p:nvSpPr>
        <p:spPr/>
        <p:txBody>
          <a:bodyPr/>
          <a:lstStyle/>
          <a:p>
            <a:fld id="{61C7EFC4-DD65-40CB-B951-0945CF071A29}" type="datetimeFigureOut">
              <a:t>10/1/2026</a:t>
            </a:fld>
            <a:endParaRPr/>
          </a:p>
        </p:txBody>
      </p:sp>
      <p:sp>
        <p:nvSpPr>
          <p:cNvPr id="5" name="Footer Placeholder 4">
            <a:extLst>
              <a:ext uri="{FF2B5EF4-FFF2-40B4-BE49-F238E27FC236}">
                <a16:creationId xmlns:a16="http://schemas.microsoft.com/office/drawing/2014/main" id="{59D85548-5235-C6BC-4023-45A401FA425B}"/>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1496A08A-4D86-911F-9C7D-6CD5C55EF0E3}"/>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B691A16-1256-DEF6-FF2D-366B7339C5C6}"/>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9F1898AA-744A-8965-6F2A-299DF9F0123D}"/>
              </a:ext>
            </a:extLst>
          </p:cNvPr>
          <p:cNvSpPr>
            <a:spLocks noGrp="1"/>
          </p:cNvSpPr>
          <p:nvPr>
            <p:ph idx="1"/>
          </p:nvPr>
        </p:nvSpPr>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A09F1CF9-48F2-3E82-2CA5-11F9DFFF6165}"/>
              </a:ext>
            </a:extLst>
          </p:cNvPr>
          <p:cNvSpPr>
            <a:spLocks noGrp="1"/>
          </p:cNvSpPr>
          <p:nvPr>
            <p:ph type="dt" idx="10"/>
          </p:nvPr>
        </p:nvSpPr>
        <p:spPr/>
        <p:txBody>
          <a:bodyPr/>
          <a:lstStyle/>
          <a:p>
            <a:fld id="{61C7EFC4-DD65-40CB-B951-0945CF071A29}" type="datetimeFigureOut">
              <a:t>10/1/2026</a:t>
            </a:fld>
            <a:endParaRPr/>
          </a:p>
        </p:txBody>
      </p:sp>
      <p:sp>
        <p:nvSpPr>
          <p:cNvPr id="5" name="Footer Placeholder 4">
            <a:extLst>
              <a:ext uri="{FF2B5EF4-FFF2-40B4-BE49-F238E27FC236}">
                <a16:creationId xmlns:a16="http://schemas.microsoft.com/office/drawing/2014/main" id="{622F2FF3-E159-DF8F-A368-0444934DFAA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6D69C588-F800-7077-6424-4ED506FD3AA8}"/>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3F0A7D-E3C0-C967-3FB4-43B489163208}"/>
              </a:ext>
            </a:extLst>
          </p:cNvPr>
          <p:cNvSpPr>
            <a:spLocks noGrp="1"/>
          </p:cNvSpPr>
          <p:nvPr>
            <p:ph type="title"/>
          </p:nvPr>
        </p:nvSpPr>
        <p:spPr>
          <a:xfrm>
            <a:off x="831850" y="1709738"/>
            <a:ext cx="10515600" cy="2852737"/>
          </a:xfrm>
        </p:spPr>
        <p:txBody>
          <a:bodyPr anchor="b"/>
          <a:lstStyle>
            <a:lvl1pPr>
              <a:buNone/>
              <a:defRPr sz="6000"/>
            </a:lvl1pPr>
          </a:lstStyle>
          <a:p>
            <a:r>
              <a:t>Click to edit Master title style</a:t>
            </a:r>
          </a:p>
        </p:txBody>
      </p:sp>
      <p:sp>
        <p:nvSpPr>
          <p:cNvPr id="3" name="Text Placeholder 2">
            <a:extLst>
              <a:ext uri="{FF2B5EF4-FFF2-40B4-BE49-F238E27FC236}">
                <a16:creationId xmlns:a16="http://schemas.microsoft.com/office/drawing/2014/main" id="{4167F04F-8051-7453-58F7-53056EBEC5B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buNone/>
            </a:pPr>
            <a:r>
              <a:t>Click to edit Master text styles</a:t>
            </a:r>
          </a:p>
        </p:txBody>
      </p:sp>
      <p:sp>
        <p:nvSpPr>
          <p:cNvPr id="4" name="Date Placeholder 3">
            <a:extLst>
              <a:ext uri="{FF2B5EF4-FFF2-40B4-BE49-F238E27FC236}">
                <a16:creationId xmlns:a16="http://schemas.microsoft.com/office/drawing/2014/main" id="{C2DC6ED6-4052-8769-8145-8006870C31D5}"/>
              </a:ext>
            </a:extLst>
          </p:cNvPr>
          <p:cNvSpPr>
            <a:spLocks noGrp="1"/>
          </p:cNvSpPr>
          <p:nvPr>
            <p:ph type="dt" idx="10"/>
          </p:nvPr>
        </p:nvSpPr>
        <p:spPr/>
        <p:txBody>
          <a:bodyPr/>
          <a:lstStyle/>
          <a:p>
            <a:fld id="{61C7EFC4-DD65-40CB-B951-0945CF071A29}" type="datetimeFigureOut">
              <a:t>10/1/2026</a:t>
            </a:fld>
            <a:endParaRPr/>
          </a:p>
        </p:txBody>
      </p:sp>
      <p:sp>
        <p:nvSpPr>
          <p:cNvPr id="5" name="Footer Placeholder 4">
            <a:extLst>
              <a:ext uri="{FF2B5EF4-FFF2-40B4-BE49-F238E27FC236}">
                <a16:creationId xmlns:a16="http://schemas.microsoft.com/office/drawing/2014/main" id="{FD411841-1F1F-F984-D6BE-67CE4A3D42A4}"/>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F348B72E-9E25-A69B-72D0-A5A4FE93DBF8}"/>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90617E-CDAD-8D5E-30D4-515A0701B47E}"/>
              </a:ext>
            </a:extLst>
          </p:cNvPr>
          <p:cNvSpPr>
            <a:spLocks noGrp="1"/>
          </p:cNvSpPr>
          <p:nvPr>
            <p:ph type="title"/>
          </p:nvPr>
        </p:nvSpPr>
        <p:spPr/>
        <p:txBody>
          <a:bodyPr/>
          <a:lstStyle/>
          <a:p>
            <a:r>
              <a:t>Click to edit Master title style</a:t>
            </a:r>
          </a:p>
        </p:txBody>
      </p:sp>
      <p:sp>
        <p:nvSpPr>
          <p:cNvPr id="3" name="Content Placeholder 2">
            <a:extLst>
              <a:ext uri="{FF2B5EF4-FFF2-40B4-BE49-F238E27FC236}">
                <a16:creationId xmlns:a16="http://schemas.microsoft.com/office/drawing/2014/main" id="{5F63EFEA-F470-7E88-4E17-DA11A6C003E6}"/>
              </a:ext>
            </a:extLst>
          </p:cNvPr>
          <p:cNvSpPr>
            <a:spLocks noGrp="1"/>
          </p:cNvSpPr>
          <p:nvPr>
            <p:ph idx="1"/>
          </p:nvPr>
        </p:nvSpPr>
        <p:spPr>
          <a:xfrm>
            <a:off x="838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Content Placeholder 3">
            <a:extLst>
              <a:ext uri="{FF2B5EF4-FFF2-40B4-BE49-F238E27FC236}">
                <a16:creationId xmlns:a16="http://schemas.microsoft.com/office/drawing/2014/main" id="{7597C8D4-C3D4-D5A3-53F5-D3A2FB641EC9}"/>
              </a:ext>
            </a:extLst>
          </p:cNvPr>
          <p:cNvSpPr>
            <a:spLocks noGrp="1"/>
          </p:cNvSpPr>
          <p:nvPr>
            <p:ph idx="2"/>
          </p:nvPr>
        </p:nvSpPr>
        <p:spPr>
          <a:xfrm>
            <a:off x="6172200" y="1825625"/>
            <a:ext cx="5181600" cy="435133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Date Placeholder 4">
            <a:extLst>
              <a:ext uri="{FF2B5EF4-FFF2-40B4-BE49-F238E27FC236}">
                <a16:creationId xmlns:a16="http://schemas.microsoft.com/office/drawing/2014/main" id="{8756274C-094C-0FDA-3EA3-874ABEC8441F}"/>
              </a:ext>
            </a:extLst>
          </p:cNvPr>
          <p:cNvSpPr>
            <a:spLocks noGrp="1"/>
          </p:cNvSpPr>
          <p:nvPr>
            <p:ph type="dt" idx="10"/>
          </p:nvPr>
        </p:nvSpPr>
        <p:spPr/>
        <p:txBody>
          <a:bodyPr/>
          <a:lstStyle/>
          <a:p>
            <a:fld id="{61C7EFC4-DD65-40CB-B951-0945CF071A29}" type="datetimeFigureOut">
              <a:t>10/1/2026</a:t>
            </a:fld>
            <a:endParaRPr/>
          </a:p>
        </p:txBody>
      </p:sp>
      <p:sp>
        <p:nvSpPr>
          <p:cNvPr id="6" name="Footer Placeholder 5">
            <a:extLst>
              <a:ext uri="{FF2B5EF4-FFF2-40B4-BE49-F238E27FC236}">
                <a16:creationId xmlns:a16="http://schemas.microsoft.com/office/drawing/2014/main" id="{897AB675-55CE-CB84-09EC-82D1EB6114DD}"/>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D3E37373-3F77-6E38-E4A0-8F9C69406066}"/>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BF9DFB5-BD92-97BF-7B72-14CD29726FEC}"/>
              </a:ext>
            </a:extLst>
          </p:cNvPr>
          <p:cNvSpPr>
            <a:spLocks noGrp="1"/>
          </p:cNvSpPr>
          <p:nvPr>
            <p:ph type="title"/>
          </p:nvPr>
        </p:nvSpPr>
        <p:spPr>
          <a:xfrm>
            <a:off x="839788" y="365125"/>
            <a:ext cx="10515600" cy="1325563"/>
          </a:xfrm>
        </p:spPr>
        <p:txBody>
          <a:bodyPr/>
          <a:lstStyle/>
          <a:p>
            <a:r>
              <a:t>Click to edit Master title style</a:t>
            </a:r>
          </a:p>
        </p:txBody>
      </p:sp>
      <p:sp>
        <p:nvSpPr>
          <p:cNvPr id="3" name="Text Placeholder 2">
            <a:extLst>
              <a:ext uri="{FF2B5EF4-FFF2-40B4-BE49-F238E27FC236}">
                <a16:creationId xmlns:a16="http://schemas.microsoft.com/office/drawing/2014/main" id="{F11733D7-CAD7-A084-F5EF-5F6D4F3E2097}"/>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4" name="Content Placeholder 3">
            <a:extLst>
              <a:ext uri="{FF2B5EF4-FFF2-40B4-BE49-F238E27FC236}">
                <a16:creationId xmlns:a16="http://schemas.microsoft.com/office/drawing/2014/main" id="{5056B47A-6297-186A-86FD-68D12B4C3D47}"/>
              </a:ext>
            </a:extLst>
          </p:cNvPr>
          <p:cNvSpPr>
            <a:spLocks noGrp="1"/>
          </p:cNvSpPr>
          <p:nvPr>
            <p:ph idx="2"/>
          </p:nvPr>
        </p:nvSpPr>
        <p:spPr>
          <a:xfrm>
            <a:off x="839788" y="2505075"/>
            <a:ext cx="5157787"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5" name="Text Placeholder 4">
            <a:extLst>
              <a:ext uri="{FF2B5EF4-FFF2-40B4-BE49-F238E27FC236}">
                <a16:creationId xmlns:a16="http://schemas.microsoft.com/office/drawing/2014/main" id="{CD599195-1861-B5E5-6661-80BDA381CECB}"/>
              </a:ext>
            </a:extLst>
          </p:cNvPr>
          <p:cNvSpPr>
            <a:spLocks noGrp="1"/>
          </p:cNvSpPr>
          <p:nvPr>
            <p:ph type="body"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buNone/>
            </a:pPr>
            <a:r>
              <a:t>Click to edit Master text styles</a:t>
            </a:r>
          </a:p>
        </p:txBody>
      </p:sp>
      <p:sp>
        <p:nvSpPr>
          <p:cNvPr id="6" name="Content Placeholder 5">
            <a:extLst>
              <a:ext uri="{FF2B5EF4-FFF2-40B4-BE49-F238E27FC236}">
                <a16:creationId xmlns:a16="http://schemas.microsoft.com/office/drawing/2014/main" id="{838DE431-C075-349C-0F35-8C60020B7C49}"/>
              </a:ext>
            </a:extLst>
          </p:cNvPr>
          <p:cNvSpPr>
            <a:spLocks noGrp="1"/>
          </p:cNvSpPr>
          <p:nvPr>
            <p:ph idx="4"/>
          </p:nvPr>
        </p:nvSpPr>
        <p:spPr>
          <a:xfrm>
            <a:off x="6172200" y="2505075"/>
            <a:ext cx="5183188" cy="3684588"/>
          </a:xfrm>
        </p:spPr>
        <p:txBody>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7" name="Date Placeholder 6">
            <a:extLst>
              <a:ext uri="{FF2B5EF4-FFF2-40B4-BE49-F238E27FC236}">
                <a16:creationId xmlns:a16="http://schemas.microsoft.com/office/drawing/2014/main" id="{42CB9AEB-04D1-0B93-C204-F4E090A011CB}"/>
              </a:ext>
            </a:extLst>
          </p:cNvPr>
          <p:cNvSpPr>
            <a:spLocks noGrp="1"/>
          </p:cNvSpPr>
          <p:nvPr>
            <p:ph type="dt" idx="10"/>
          </p:nvPr>
        </p:nvSpPr>
        <p:spPr/>
        <p:txBody>
          <a:bodyPr/>
          <a:lstStyle/>
          <a:p>
            <a:fld id="{61C7EFC4-DD65-40CB-B951-0945CF071A29}" type="datetimeFigureOut">
              <a:t>10/1/2026</a:t>
            </a:fld>
            <a:endParaRPr/>
          </a:p>
        </p:txBody>
      </p:sp>
      <p:sp>
        <p:nvSpPr>
          <p:cNvPr id="8" name="Footer Placeholder 7">
            <a:extLst>
              <a:ext uri="{FF2B5EF4-FFF2-40B4-BE49-F238E27FC236}">
                <a16:creationId xmlns:a16="http://schemas.microsoft.com/office/drawing/2014/main" id="{2A3DCF9F-CAE6-67C5-E911-416217726DBC}"/>
              </a:ext>
            </a:extLst>
          </p:cNvPr>
          <p:cNvSpPr>
            <a:spLocks noGrp="1"/>
          </p:cNvSpPr>
          <p:nvPr>
            <p:ph type="ftr" idx="11"/>
          </p:nvPr>
        </p:nvSpPr>
        <p:spPr/>
        <p:txBody>
          <a:bodyPr/>
          <a:lstStyle/>
          <a:p>
            <a:endParaRPr/>
          </a:p>
        </p:txBody>
      </p:sp>
      <p:sp>
        <p:nvSpPr>
          <p:cNvPr id="9" name="Slide Number Placeholder 8">
            <a:extLst>
              <a:ext uri="{FF2B5EF4-FFF2-40B4-BE49-F238E27FC236}">
                <a16:creationId xmlns:a16="http://schemas.microsoft.com/office/drawing/2014/main" id="{9DA3059A-471C-59CF-82CD-A16216650AAB}"/>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28CCE-A6F2-3896-86B8-ECB28BE5CFB4}"/>
              </a:ext>
            </a:extLst>
          </p:cNvPr>
          <p:cNvSpPr>
            <a:spLocks noGrp="1"/>
          </p:cNvSpPr>
          <p:nvPr>
            <p:ph type="title"/>
          </p:nvPr>
        </p:nvSpPr>
        <p:spPr/>
        <p:txBody>
          <a:bodyPr/>
          <a:lstStyle/>
          <a:p>
            <a:r>
              <a:t>Click to edit Master title style</a:t>
            </a:r>
          </a:p>
        </p:txBody>
      </p:sp>
      <p:sp>
        <p:nvSpPr>
          <p:cNvPr id="3" name="Date Placeholder 2">
            <a:extLst>
              <a:ext uri="{FF2B5EF4-FFF2-40B4-BE49-F238E27FC236}">
                <a16:creationId xmlns:a16="http://schemas.microsoft.com/office/drawing/2014/main" id="{BC75221D-AC0B-27E7-1369-BCED602434AB}"/>
              </a:ext>
            </a:extLst>
          </p:cNvPr>
          <p:cNvSpPr>
            <a:spLocks noGrp="1"/>
          </p:cNvSpPr>
          <p:nvPr>
            <p:ph type="dt" idx="10"/>
          </p:nvPr>
        </p:nvSpPr>
        <p:spPr/>
        <p:txBody>
          <a:bodyPr/>
          <a:lstStyle/>
          <a:p>
            <a:fld id="{61C7EFC4-DD65-40CB-B951-0945CF071A29}" type="datetimeFigureOut">
              <a:t>10/1/2026</a:t>
            </a:fld>
            <a:endParaRPr/>
          </a:p>
        </p:txBody>
      </p:sp>
      <p:sp>
        <p:nvSpPr>
          <p:cNvPr id="4" name="Footer Placeholder 3">
            <a:extLst>
              <a:ext uri="{FF2B5EF4-FFF2-40B4-BE49-F238E27FC236}">
                <a16:creationId xmlns:a16="http://schemas.microsoft.com/office/drawing/2014/main" id="{4349730D-6267-6BFE-E123-36EA8CEB723A}"/>
              </a:ext>
            </a:extLst>
          </p:cNvPr>
          <p:cNvSpPr>
            <a:spLocks noGrp="1"/>
          </p:cNvSpPr>
          <p:nvPr>
            <p:ph type="ftr" idx="11"/>
          </p:nvPr>
        </p:nvSpPr>
        <p:spPr/>
        <p:txBody>
          <a:bodyPr/>
          <a:lstStyle/>
          <a:p>
            <a:endParaRPr/>
          </a:p>
        </p:txBody>
      </p:sp>
      <p:sp>
        <p:nvSpPr>
          <p:cNvPr id="5" name="Slide Number Placeholder 4">
            <a:extLst>
              <a:ext uri="{FF2B5EF4-FFF2-40B4-BE49-F238E27FC236}">
                <a16:creationId xmlns:a16="http://schemas.microsoft.com/office/drawing/2014/main" id="{33DA5AE9-3285-A32C-597C-06881398FD56}"/>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F701E63-D9CA-191F-6A60-F9A05BF9E88C}"/>
              </a:ext>
            </a:extLst>
          </p:cNvPr>
          <p:cNvSpPr>
            <a:spLocks noGrp="1"/>
          </p:cNvSpPr>
          <p:nvPr>
            <p:ph type="dt" idx="10"/>
          </p:nvPr>
        </p:nvSpPr>
        <p:spPr/>
        <p:txBody>
          <a:bodyPr/>
          <a:lstStyle/>
          <a:p>
            <a:fld id="{61C7EFC4-DD65-40CB-B951-0945CF071A29}" type="datetimeFigureOut">
              <a:t>10/1/2026</a:t>
            </a:fld>
            <a:endParaRPr/>
          </a:p>
        </p:txBody>
      </p:sp>
      <p:sp>
        <p:nvSpPr>
          <p:cNvPr id="3" name="Footer Placeholder 2">
            <a:extLst>
              <a:ext uri="{FF2B5EF4-FFF2-40B4-BE49-F238E27FC236}">
                <a16:creationId xmlns:a16="http://schemas.microsoft.com/office/drawing/2014/main" id="{5B58D2D9-D70C-EBC1-7210-44E08E9672C1}"/>
              </a:ext>
            </a:extLst>
          </p:cNvPr>
          <p:cNvSpPr>
            <a:spLocks noGrp="1"/>
          </p:cNvSpPr>
          <p:nvPr>
            <p:ph type="ftr" idx="11"/>
          </p:nvPr>
        </p:nvSpPr>
        <p:spPr/>
        <p:txBody>
          <a:bodyPr/>
          <a:lstStyle/>
          <a:p>
            <a:endParaRPr/>
          </a:p>
        </p:txBody>
      </p:sp>
      <p:sp>
        <p:nvSpPr>
          <p:cNvPr id="4" name="Slide Number Placeholder 3">
            <a:extLst>
              <a:ext uri="{FF2B5EF4-FFF2-40B4-BE49-F238E27FC236}">
                <a16:creationId xmlns:a16="http://schemas.microsoft.com/office/drawing/2014/main" id="{0A056C99-AE9D-F54D-D3D7-FA3BA96DA455}"/>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8B8A26-58AA-41AD-1FC3-24B350EE8950}"/>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Content Placeholder 2">
            <a:extLst>
              <a:ext uri="{FF2B5EF4-FFF2-40B4-BE49-F238E27FC236}">
                <a16:creationId xmlns:a16="http://schemas.microsoft.com/office/drawing/2014/main" id="{CD7DF10B-7664-BFD7-4AAB-FD2916760894}"/>
              </a:ext>
            </a:extLst>
          </p:cNvPr>
          <p:cNvSpPr>
            <a:spLocks noGrp="1"/>
          </p:cNvSpPr>
          <p:nvPr>
            <p:ph idx="1"/>
          </p:nvPr>
        </p:nvSpPr>
        <p:spPr>
          <a:xfrm>
            <a:off x="5183188" y="987425"/>
            <a:ext cx="6172200" cy="4873625"/>
          </a:xfrm>
        </p:spPr>
        <p:txBody>
          <a:bodyPr/>
          <a:lstStyle>
            <a:lvl1pPr>
              <a:buNone/>
              <a:defRPr sz="3200"/>
            </a:lvl1pPr>
            <a:lvl2pPr>
              <a:buNone/>
              <a:defRPr sz="2800"/>
            </a:lvl2pPr>
            <a:lvl3pPr>
              <a:buNone/>
              <a:defRPr sz="2400"/>
            </a:lvl3pPr>
            <a:lvl4pPr>
              <a:buNone/>
              <a:defRPr sz="2000"/>
            </a:lvl4pPr>
            <a:lvl5pPr>
              <a:buNone/>
              <a:defRPr sz="2000"/>
            </a:lvl5pPr>
            <a:lvl6pPr>
              <a:buNone/>
              <a:defRPr sz="2000"/>
            </a:lvl6pPr>
            <a:lvl7pPr>
              <a:buNone/>
              <a:defRPr sz="2000"/>
            </a:lvl7pPr>
            <a:lvl8pPr>
              <a:buNone/>
              <a:defRPr sz="2000"/>
            </a:lvl8pPr>
            <a:lvl9pPr>
              <a:buNone/>
              <a:defRPr sz="2000"/>
            </a:lvl9p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Text Placeholder 3">
            <a:extLst>
              <a:ext uri="{FF2B5EF4-FFF2-40B4-BE49-F238E27FC236}">
                <a16:creationId xmlns:a16="http://schemas.microsoft.com/office/drawing/2014/main" id="{C77B4394-A7A6-4BDD-2ADB-D85FF3A5D575}"/>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A0D525AF-F88E-B29D-4CEC-51694F10E46A}"/>
              </a:ext>
            </a:extLst>
          </p:cNvPr>
          <p:cNvSpPr>
            <a:spLocks noGrp="1"/>
          </p:cNvSpPr>
          <p:nvPr>
            <p:ph type="dt" idx="10"/>
          </p:nvPr>
        </p:nvSpPr>
        <p:spPr/>
        <p:txBody>
          <a:bodyPr/>
          <a:lstStyle/>
          <a:p>
            <a:fld id="{61C7EFC4-DD65-40CB-B951-0945CF071A29}" type="datetimeFigureOut">
              <a:t>10/1/2026</a:t>
            </a:fld>
            <a:endParaRPr/>
          </a:p>
        </p:txBody>
      </p:sp>
      <p:sp>
        <p:nvSpPr>
          <p:cNvPr id="6" name="Footer Placeholder 5">
            <a:extLst>
              <a:ext uri="{FF2B5EF4-FFF2-40B4-BE49-F238E27FC236}">
                <a16:creationId xmlns:a16="http://schemas.microsoft.com/office/drawing/2014/main" id="{09AB2F28-4DB3-7913-83F9-D56CC6AC16A2}"/>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911CC732-12E0-9C46-3886-72C95391DF78}"/>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268744-BDCC-4AFD-9AFE-45AEB1BF1FD7}"/>
              </a:ext>
            </a:extLst>
          </p:cNvPr>
          <p:cNvSpPr>
            <a:spLocks noGrp="1"/>
          </p:cNvSpPr>
          <p:nvPr>
            <p:ph type="title"/>
          </p:nvPr>
        </p:nvSpPr>
        <p:spPr>
          <a:xfrm>
            <a:off x="839788" y="457200"/>
            <a:ext cx="3932237" cy="1600200"/>
          </a:xfrm>
        </p:spPr>
        <p:txBody>
          <a:bodyPr anchor="b"/>
          <a:lstStyle>
            <a:lvl1pPr>
              <a:buNone/>
              <a:defRPr sz="3200"/>
            </a:lvl1pPr>
          </a:lstStyle>
          <a:p>
            <a:r>
              <a:t>Click to edit Master title style</a:t>
            </a:r>
          </a:p>
        </p:txBody>
      </p:sp>
      <p:sp>
        <p:nvSpPr>
          <p:cNvPr id="3" name="Picture Placeholder 2">
            <a:extLst>
              <a:ext uri="{FF2B5EF4-FFF2-40B4-BE49-F238E27FC236}">
                <a16:creationId xmlns:a16="http://schemas.microsoft.com/office/drawing/2014/main" id="{7C15E953-FCB4-FD20-47F2-202A0FEF565E}"/>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a:p>
        </p:txBody>
      </p:sp>
      <p:sp>
        <p:nvSpPr>
          <p:cNvPr id="4" name="Text Placeholder 3">
            <a:extLst>
              <a:ext uri="{FF2B5EF4-FFF2-40B4-BE49-F238E27FC236}">
                <a16:creationId xmlns:a16="http://schemas.microsoft.com/office/drawing/2014/main" id="{DC67C040-4016-8CDD-48B9-ED2BC79A13BC}"/>
              </a:ext>
            </a:extLst>
          </p:cNvPr>
          <p:cNvSpPr>
            <a:spLocks noGrp="1"/>
          </p:cNvSpPr>
          <p:nvPr>
            <p:ph type="body"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buNone/>
            </a:pPr>
            <a:r>
              <a:t>Click to edit Master text styles</a:t>
            </a:r>
          </a:p>
        </p:txBody>
      </p:sp>
      <p:sp>
        <p:nvSpPr>
          <p:cNvPr id="5" name="Date Placeholder 4">
            <a:extLst>
              <a:ext uri="{FF2B5EF4-FFF2-40B4-BE49-F238E27FC236}">
                <a16:creationId xmlns:a16="http://schemas.microsoft.com/office/drawing/2014/main" id="{6B7887E2-D838-3CDB-EC14-E6C5206A97ED}"/>
              </a:ext>
            </a:extLst>
          </p:cNvPr>
          <p:cNvSpPr>
            <a:spLocks noGrp="1"/>
          </p:cNvSpPr>
          <p:nvPr>
            <p:ph type="dt" idx="10"/>
          </p:nvPr>
        </p:nvSpPr>
        <p:spPr/>
        <p:txBody>
          <a:bodyPr/>
          <a:lstStyle/>
          <a:p>
            <a:fld id="{61C7EFC4-DD65-40CB-B951-0945CF071A29}" type="datetimeFigureOut">
              <a:t>10/1/2026</a:t>
            </a:fld>
            <a:endParaRPr/>
          </a:p>
        </p:txBody>
      </p:sp>
      <p:sp>
        <p:nvSpPr>
          <p:cNvPr id="6" name="Footer Placeholder 5">
            <a:extLst>
              <a:ext uri="{FF2B5EF4-FFF2-40B4-BE49-F238E27FC236}">
                <a16:creationId xmlns:a16="http://schemas.microsoft.com/office/drawing/2014/main" id="{ACFD20C8-41E3-2FCC-7DE6-7A07819FF2AB}"/>
              </a:ext>
            </a:extLst>
          </p:cNvPr>
          <p:cNvSpPr>
            <a:spLocks noGrp="1"/>
          </p:cNvSpPr>
          <p:nvPr>
            <p:ph type="ftr" idx="11"/>
          </p:nvPr>
        </p:nvSpPr>
        <p:spPr/>
        <p:txBody>
          <a:bodyPr/>
          <a:lstStyle/>
          <a:p>
            <a:endParaRPr/>
          </a:p>
        </p:txBody>
      </p:sp>
      <p:sp>
        <p:nvSpPr>
          <p:cNvPr id="7" name="Slide Number Placeholder 6">
            <a:extLst>
              <a:ext uri="{FF2B5EF4-FFF2-40B4-BE49-F238E27FC236}">
                <a16:creationId xmlns:a16="http://schemas.microsoft.com/office/drawing/2014/main" id="{B0D272ED-FA55-6FFC-A2AB-DCF44A2E0FB5}"/>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AE5BEDE-CF61-F52A-0FE6-07BE573D4BD7}"/>
              </a:ext>
            </a:extLst>
          </p:cNvPr>
          <p:cNvSpPr>
            <a:spLocks noGrp="1"/>
          </p:cNvSpPr>
          <p:nvPr>
            <p:ph type="title"/>
          </p:nvPr>
        </p:nvSpPr>
        <p:spPr/>
        <p:txBody>
          <a:bodyPr/>
          <a:lstStyle/>
          <a:p>
            <a:r>
              <a:t>Click to edit Master title style</a:t>
            </a:r>
          </a:p>
        </p:txBody>
      </p:sp>
      <p:sp>
        <p:nvSpPr>
          <p:cNvPr id="3" name="Vertical Text Placeholder 2">
            <a:extLst>
              <a:ext uri="{FF2B5EF4-FFF2-40B4-BE49-F238E27FC236}">
                <a16:creationId xmlns:a16="http://schemas.microsoft.com/office/drawing/2014/main" id="{B4C94E85-E7C8-C522-09F5-197C1C8A503C}"/>
              </a:ext>
            </a:extLst>
          </p:cNvPr>
          <p:cNvSpPr>
            <a:spLocks noGrp="1"/>
          </p:cNvSpPr>
          <p:nvPr>
            <p:ph type="body" idx="1"/>
          </p:nvPr>
        </p:nvSpPr>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3CF41BC0-260B-3E46-A656-848979EDC73E}"/>
              </a:ext>
            </a:extLst>
          </p:cNvPr>
          <p:cNvSpPr>
            <a:spLocks noGrp="1"/>
          </p:cNvSpPr>
          <p:nvPr>
            <p:ph type="dt" idx="10"/>
          </p:nvPr>
        </p:nvSpPr>
        <p:spPr/>
        <p:txBody>
          <a:bodyPr/>
          <a:lstStyle/>
          <a:p>
            <a:fld id="{61C7EFC4-DD65-40CB-B951-0945CF071A29}" type="datetimeFigureOut">
              <a:t>10/1/2026</a:t>
            </a:fld>
            <a:endParaRPr/>
          </a:p>
        </p:txBody>
      </p:sp>
      <p:sp>
        <p:nvSpPr>
          <p:cNvPr id="5" name="Footer Placeholder 4">
            <a:extLst>
              <a:ext uri="{FF2B5EF4-FFF2-40B4-BE49-F238E27FC236}">
                <a16:creationId xmlns:a16="http://schemas.microsoft.com/office/drawing/2014/main" id="{8F995DED-B5BC-C7B4-61EC-78A5BB67D992}"/>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2720934C-0950-A886-4069-2F9A802DE2A5}"/>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23AA1AB6-7B62-BA67-B3B1-0A53EDFB7DB0}"/>
              </a:ext>
            </a:extLst>
          </p:cNvPr>
          <p:cNvSpPr>
            <a:spLocks noGrp="1"/>
          </p:cNvSpPr>
          <p:nvPr>
            <p:ph type="title"/>
          </p:nvPr>
        </p:nvSpPr>
        <p:spPr>
          <a:xfrm>
            <a:off x="8724900" y="365125"/>
            <a:ext cx="2628900" cy="5811838"/>
          </a:xfrm>
        </p:spPr>
        <p:txBody>
          <a:bodyPr vert="eaVert"/>
          <a:lstStyle/>
          <a:p>
            <a:r>
              <a:t>Click to edit Master title style</a:t>
            </a:r>
          </a:p>
        </p:txBody>
      </p:sp>
      <p:sp>
        <p:nvSpPr>
          <p:cNvPr id="3" name="Vertical Text Placeholder 2">
            <a:extLst>
              <a:ext uri="{FF2B5EF4-FFF2-40B4-BE49-F238E27FC236}">
                <a16:creationId xmlns:a16="http://schemas.microsoft.com/office/drawing/2014/main" id="{9A963638-A2FA-1A2E-0DA3-699FD40AAA85}"/>
              </a:ext>
            </a:extLst>
          </p:cNvPr>
          <p:cNvSpPr>
            <a:spLocks noGrp="1"/>
          </p:cNvSpPr>
          <p:nvPr>
            <p:ph type="body" idx="1"/>
          </p:nvPr>
        </p:nvSpPr>
        <p:spPr>
          <a:xfrm>
            <a:off x="838200" y="365125"/>
            <a:ext cx="7734300" cy="5811838"/>
          </a:xfrm>
        </p:spPr>
        <p:txBody>
          <a:bodyPr vert="eaVert"/>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4390090D-4261-5137-75F1-4E0EF76159C6}"/>
              </a:ext>
            </a:extLst>
          </p:cNvPr>
          <p:cNvSpPr>
            <a:spLocks noGrp="1"/>
          </p:cNvSpPr>
          <p:nvPr>
            <p:ph type="dt" idx="10"/>
          </p:nvPr>
        </p:nvSpPr>
        <p:spPr/>
        <p:txBody>
          <a:bodyPr/>
          <a:lstStyle/>
          <a:p>
            <a:fld id="{61C7EFC4-DD65-40CB-B951-0945CF071A29}" type="datetimeFigureOut">
              <a:t>10/1/2026</a:t>
            </a:fld>
            <a:endParaRPr/>
          </a:p>
        </p:txBody>
      </p:sp>
      <p:sp>
        <p:nvSpPr>
          <p:cNvPr id="5" name="Footer Placeholder 4">
            <a:extLst>
              <a:ext uri="{FF2B5EF4-FFF2-40B4-BE49-F238E27FC236}">
                <a16:creationId xmlns:a16="http://schemas.microsoft.com/office/drawing/2014/main" id="{49608E9B-E226-3B28-A8B2-A7C9511768A7}"/>
              </a:ext>
            </a:extLst>
          </p:cNvPr>
          <p:cNvSpPr>
            <a:spLocks noGrp="1"/>
          </p:cNvSpPr>
          <p:nvPr>
            <p:ph type="ftr" idx="11"/>
          </p:nvPr>
        </p:nvSpPr>
        <p:spPr/>
        <p:txBody>
          <a:bodyPr/>
          <a:lstStyle/>
          <a:p>
            <a:endParaRPr/>
          </a:p>
        </p:txBody>
      </p:sp>
      <p:sp>
        <p:nvSpPr>
          <p:cNvPr id="6" name="Slide Number Placeholder 5">
            <a:extLst>
              <a:ext uri="{FF2B5EF4-FFF2-40B4-BE49-F238E27FC236}">
                <a16:creationId xmlns:a16="http://schemas.microsoft.com/office/drawing/2014/main" id="{E87B6F5D-24F9-D35D-C431-DEF880366937}"/>
              </a:ext>
            </a:extLst>
          </p:cNvPr>
          <p:cNvSpPr>
            <a:spLocks noGrp="1"/>
          </p:cNvSpPr>
          <p:nvPr>
            <p:ph type="sldNum" idx="12"/>
          </p:nvPr>
        </p:nvSpPr>
        <p:spPr/>
        <p:txBody>
          <a:bodyPr/>
          <a:lstStyle/>
          <a:p>
            <a:fld id="{9452003C-2E18-4F05-A4C9-AD7C844592EE}" type="slidenum">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7EC22BA-EC9E-F619-65A1-856289EA2AEC}"/>
              </a:ext>
            </a:extLst>
          </p:cNvPr>
          <p:cNvSpPr>
            <a:spLocks noGrp="1"/>
          </p:cNvSpPr>
          <p:nvPr>
            <p:ph type="title"/>
          </p:nvPr>
        </p:nvSpPr>
        <p:spPr>
          <a:xfrm>
            <a:off x="838200" y="365125"/>
            <a:ext cx="10515600" cy="1325563"/>
          </a:xfrm>
          <a:prstGeom prst="rect">
            <a:avLst/>
          </a:prstGeom>
        </p:spPr>
        <p:txBody>
          <a:bodyPr vert="horz" lIns="91440" tIns="45720" rIns="91440" bIns="45720" anchor="ctr">
            <a:normAutofit/>
          </a:bodyPr>
          <a:lstStyle/>
          <a:p>
            <a:r>
              <a:t>Click to edit Master title style</a:t>
            </a:r>
          </a:p>
        </p:txBody>
      </p:sp>
      <p:sp>
        <p:nvSpPr>
          <p:cNvPr id="3" name="Text Placeholder 2">
            <a:extLst>
              <a:ext uri="{FF2B5EF4-FFF2-40B4-BE49-F238E27FC236}">
                <a16:creationId xmlns:a16="http://schemas.microsoft.com/office/drawing/2014/main" id="{9A7BF393-B6D1-AF1C-C18E-418AC361E06C}"/>
              </a:ext>
            </a:extLst>
          </p:cNvPr>
          <p:cNvSpPr>
            <a:spLocks noGrp="1"/>
          </p:cNvSpPr>
          <p:nvPr>
            <p:ph type="body" idx="1"/>
          </p:nvPr>
        </p:nvSpPr>
        <p:spPr>
          <a:xfrm>
            <a:off x="838200" y="1825625"/>
            <a:ext cx="10515600" cy="4351338"/>
          </a:xfrm>
          <a:prstGeom prst="rect">
            <a:avLst/>
          </a:prstGeom>
        </p:spPr>
        <p:txBody>
          <a:bodyPr vert="horz" lIns="91440" tIns="45720" rIns="91440" bIns="45720">
            <a:normAutofit/>
          </a:bodyPr>
          <a:lstStyle/>
          <a:p>
            <a:pPr lvl="0">
              <a:buNone/>
            </a:pPr>
            <a:r>
              <a:t>Click to edit Master text styles</a:t>
            </a:r>
          </a:p>
          <a:p>
            <a:pPr lvl="1">
              <a:buNone/>
            </a:pPr>
            <a:r>
              <a:t>Second level</a:t>
            </a:r>
          </a:p>
          <a:p>
            <a:pPr lvl="2">
              <a:buNone/>
            </a:pPr>
            <a:r>
              <a:t>Third level</a:t>
            </a:r>
          </a:p>
          <a:p>
            <a:pPr lvl="3">
              <a:buNone/>
            </a:pPr>
            <a:r>
              <a:t>Fourth level</a:t>
            </a:r>
          </a:p>
          <a:p>
            <a:pPr lvl="4">
              <a:buNone/>
            </a:pPr>
            <a:r>
              <a:t>Fifth level</a:t>
            </a:r>
          </a:p>
        </p:txBody>
      </p:sp>
      <p:sp>
        <p:nvSpPr>
          <p:cNvPr id="4" name="Date Placeholder 3">
            <a:extLst>
              <a:ext uri="{FF2B5EF4-FFF2-40B4-BE49-F238E27FC236}">
                <a16:creationId xmlns:a16="http://schemas.microsoft.com/office/drawing/2014/main" id="{C556A2EF-AC8A-3AB5-0DD4-30856878F449}"/>
              </a:ext>
            </a:extLst>
          </p:cNvPr>
          <p:cNvSpPr>
            <a:spLocks noGrp="1"/>
          </p:cNvSpPr>
          <p:nvPr>
            <p:ph type="dt" idx="2"/>
          </p:nvPr>
        </p:nvSpPr>
        <p:spPr>
          <a:xfrm>
            <a:off x="838200" y="6356350"/>
            <a:ext cx="2743200" cy="365125"/>
          </a:xfrm>
          <a:prstGeom prst="rect">
            <a:avLst/>
          </a:prstGeom>
        </p:spPr>
        <p:txBody>
          <a:bodyPr vert="horz" lIns="91440" tIns="45720" rIns="91440" bIns="45720" anchor="ctr"/>
          <a:lstStyle>
            <a:lvl1pPr algn="l">
              <a:buNone/>
              <a:defRPr sz="1200">
                <a:solidFill>
                  <a:schemeClr val="tx1">
                    <a:tint val="82000"/>
                  </a:schemeClr>
                </a:solidFill>
              </a:defRPr>
            </a:lvl1pPr>
          </a:lstStyle>
          <a:p>
            <a:fld id="{61C7EFC4-DD65-40CB-B951-0945CF071A29}" type="datetimeFigureOut">
              <a:t>10/1/2026</a:t>
            </a:fld>
            <a:endParaRPr/>
          </a:p>
        </p:txBody>
      </p:sp>
      <p:sp>
        <p:nvSpPr>
          <p:cNvPr id="5" name="Footer Placeholder 4">
            <a:extLst>
              <a:ext uri="{FF2B5EF4-FFF2-40B4-BE49-F238E27FC236}">
                <a16:creationId xmlns:a16="http://schemas.microsoft.com/office/drawing/2014/main" id="{F9B37B15-05CD-ED42-71F8-921D6EB2FEB8}"/>
              </a:ext>
            </a:extLst>
          </p:cNvPr>
          <p:cNvSpPr>
            <a:spLocks noGrp="1"/>
          </p:cNvSpPr>
          <p:nvPr>
            <p:ph type="ftr" idx="3"/>
          </p:nvPr>
        </p:nvSpPr>
        <p:spPr>
          <a:xfrm>
            <a:off x="4038600" y="6356350"/>
            <a:ext cx="4114800" cy="365125"/>
          </a:xfrm>
          <a:prstGeom prst="rect">
            <a:avLst/>
          </a:prstGeom>
        </p:spPr>
        <p:txBody>
          <a:bodyPr vert="horz" lIns="91440" tIns="45720" rIns="91440" bIns="45720" anchor="ctr"/>
          <a:lstStyle>
            <a:lvl1pPr algn="ctr">
              <a:buNone/>
              <a:defRPr sz="1200">
                <a:solidFill>
                  <a:schemeClr val="tx1">
                    <a:tint val="82000"/>
                  </a:schemeClr>
                </a:solidFill>
              </a:defRPr>
            </a:lvl1pPr>
          </a:lstStyle>
          <a:p>
            <a:endParaRPr/>
          </a:p>
        </p:txBody>
      </p:sp>
      <p:sp>
        <p:nvSpPr>
          <p:cNvPr id="6" name="Slide Number Placeholder 5">
            <a:extLst>
              <a:ext uri="{FF2B5EF4-FFF2-40B4-BE49-F238E27FC236}">
                <a16:creationId xmlns:a16="http://schemas.microsoft.com/office/drawing/2014/main" id="{28A75C69-8378-32E4-7E66-942A934CC87A}"/>
              </a:ext>
            </a:extLst>
          </p:cNvPr>
          <p:cNvSpPr>
            <a:spLocks noGrp="1"/>
          </p:cNvSpPr>
          <p:nvPr>
            <p:ph type="sldNum" idx="4"/>
          </p:nvPr>
        </p:nvSpPr>
        <p:spPr>
          <a:xfrm>
            <a:off x="8610600" y="6356350"/>
            <a:ext cx="2743200" cy="365125"/>
          </a:xfrm>
          <a:prstGeom prst="rect">
            <a:avLst/>
          </a:prstGeom>
        </p:spPr>
        <p:txBody>
          <a:bodyPr vert="horz" lIns="91440" tIns="45720" rIns="91440" bIns="45720" anchor="ctr"/>
          <a:lstStyle>
            <a:lvl1pPr algn="r">
              <a:buNone/>
              <a:defRPr sz="1200">
                <a:solidFill>
                  <a:schemeClr val="tx1">
                    <a:tint val="82000"/>
                  </a:schemeClr>
                </a:solidFill>
              </a:defRPr>
            </a:lvl1pPr>
          </a:lstStyle>
          <a:p>
            <a:fld id="{9452003C-2E18-4F05-A4C9-AD7C844592EE}"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a:lnSpc>
          <a:spcPct val="90000"/>
        </a:lnSpc>
        <a:spcBef>
          <a:spcPct val="0"/>
        </a:spcBef>
        <a:buNone/>
        <a:defRPr sz="4400" kern="1200">
          <a:solidFill>
            <a:schemeClr val="tx1"/>
          </a:solidFill>
          <a:latin typeface="+mj-lt"/>
          <a:ea typeface="+mj-lt"/>
          <a:cs typeface="+mj-lt"/>
        </a:defRPr>
      </a:lvl1pPr>
    </p:titleStyle>
    <p:bodyStyle>
      <a:lvl1pPr marL="228600" indent="-228600" algn="l" defTabSz="914400">
        <a:lnSpc>
          <a:spcPct val="90000"/>
        </a:lnSpc>
        <a:spcBef>
          <a:spcPts val="1000"/>
        </a:spcBef>
        <a:buFont typeface="Arial"/>
        <a:buChar char="•"/>
        <a:defRPr sz="2800" kern="1200">
          <a:solidFill>
            <a:schemeClr val="tx1"/>
          </a:solidFill>
          <a:latin typeface="+mn-lt"/>
          <a:ea typeface="+mn-lt"/>
          <a:cs typeface="+mn-lt"/>
        </a:defRPr>
      </a:lvl1pPr>
      <a:lvl2pPr marL="685800" indent="-228600" algn="l" defTabSz="914400">
        <a:lnSpc>
          <a:spcPct val="90000"/>
        </a:lnSpc>
        <a:spcBef>
          <a:spcPts val="500"/>
        </a:spcBef>
        <a:buFont typeface="Arial"/>
        <a:buChar char="•"/>
        <a:defRPr sz="2400" kern="1200">
          <a:solidFill>
            <a:schemeClr val="tx1"/>
          </a:solidFill>
          <a:latin typeface="+mn-lt"/>
          <a:ea typeface="+mn-lt"/>
          <a:cs typeface="+mn-lt"/>
        </a:defRPr>
      </a:lvl2pPr>
      <a:lvl3pPr marL="1143000" indent="-228600" algn="l" defTabSz="914400">
        <a:lnSpc>
          <a:spcPct val="90000"/>
        </a:lnSpc>
        <a:spcBef>
          <a:spcPts val="500"/>
        </a:spcBef>
        <a:buFont typeface="Arial"/>
        <a:buChar char="•"/>
        <a:defRPr sz="2000" kern="1200">
          <a:solidFill>
            <a:schemeClr val="tx1"/>
          </a:solidFill>
          <a:latin typeface="+mn-lt"/>
          <a:ea typeface="+mn-lt"/>
          <a:cs typeface="+mn-lt"/>
        </a:defRPr>
      </a:lvl3pPr>
      <a:lvl4pPr marL="1600200" indent="-228600" algn="l" defTabSz="914400">
        <a:lnSpc>
          <a:spcPct val="90000"/>
        </a:lnSpc>
        <a:spcBef>
          <a:spcPts val="500"/>
        </a:spcBef>
        <a:buFont typeface="Arial"/>
        <a:buChar char="•"/>
        <a:defRPr sz="1800" kern="1200">
          <a:solidFill>
            <a:schemeClr val="tx1"/>
          </a:solidFill>
          <a:latin typeface="+mn-lt"/>
          <a:ea typeface="+mn-lt"/>
          <a:cs typeface="+mn-lt"/>
        </a:defRPr>
      </a:lvl4pPr>
      <a:lvl5pPr marL="2057400" indent="-228600" algn="l" defTabSz="914400">
        <a:lnSpc>
          <a:spcPct val="90000"/>
        </a:lnSpc>
        <a:spcBef>
          <a:spcPts val="500"/>
        </a:spcBef>
        <a:buFont typeface="Arial"/>
        <a:buChar char="•"/>
        <a:defRPr sz="1800" kern="1200">
          <a:solidFill>
            <a:schemeClr val="tx1"/>
          </a:solidFill>
          <a:latin typeface="+mn-lt"/>
          <a:ea typeface="+mn-lt"/>
          <a:cs typeface="+mn-lt"/>
        </a:defRPr>
      </a:lvl5pPr>
      <a:lvl6pPr marL="2514600" indent="-228600" algn="l" defTabSz="914400">
        <a:lnSpc>
          <a:spcPct val="90000"/>
        </a:lnSpc>
        <a:spcBef>
          <a:spcPts val="500"/>
        </a:spcBef>
        <a:buFont typeface="Arial"/>
        <a:buChar char="•"/>
        <a:defRPr sz="1800" kern="1200">
          <a:solidFill>
            <a:schemeClr val="tx1"/>
          </a:solidFill>
          <a:latin typeface="+mn-lt"/>
          <a:ea typeface="+mn-lt"/>
          <a:cs typeface="+mn-lt"/>
        </a:defRPr>
      </a:lvl6pPr>
      <a:lvl7pPr marL="2971800" indent="-228600" algn="l" defTabSz="914400">
        <a:lnSpc>
          <a:spcPct val="90000"/>
        </a:lnSpc>
        <a:spcBef>
          <a:spcPts val="500"/>
        </a:spcBef>
        <a:buFont typeface="Arial"/>
        <a:buChar char="•"/>
        <a:defRPr sz="1800" kern="1200">
          <a:solidFill>
            <a:schemeClr val="tx1"/>
          </a:solidFill>
          <a:latin typeface="+mn-lt"/>
          <a:ea typeface="+mn-lt"/>
          <a:cs typeface="+mn-lt"/>
        </a:defRPr>
      </a:lvl7pPr>
      <a:lvl8pPr marL="3429000" indent="-228600" algn="l" defTabSz="914400">
        <a:lnSpc>
          <a:spcPct val="90000"/>
        </a:lnSpc>
        <a:spcBef>
          <a:spcPts val="500"/>
        </a:spcBef>
        <a:buFont typeface="Arial"/>
        <a:buChar char="•"/>
        <a:defRPr sz="1800" kern="1200">
          <a:solidFill>
            <a:schemeClr val="tx1"/>
          </a:solidFill>
          <a:latin typeface="+mn-lt"/>
          <a:ea typeface="+mn-lt"/>
          <a:cs typeface="+mn-lt"/>
        </a:defRPr>
      </a:lvl8pPr>
      <a:lvl9pPr marL="3886200" indent="-228600" algn="l" defTabSz="914400">
        <a:lnSpc>
          <a:spcPct val="90000"/>
        </a:lnSpc>
        <a:spcBef>
          <a:spcPts val="500"/>
        </a:spcBef>
        <a:buFont typeface="Arial"/>
        <a:buChar char="•"/>
        <a:defRPr sz="1800" kern="1200">
          <a:solidFill>
            <a:schemeClr val="tx1"/>
          </a:solidFill>
          <a:latin typeface="+mn-lt"/>
          <a:ea typeface="+mn-lt"/>
          <a:cs typeface="+mn-lt"/>
        </a:defRPr>
      </a:lvl9pPr>
    </p:bodyStyle>
    <p:otherStyle>
      <a:lvl1pPr marL="0" algn="l" defTabSz="914400">
        <a:buNone/>
        <a:defRPr sz="1800" kern="1200">
          <a:solidFill>
            <a:schemeClr val="tx1"/>
          </a:solidFill>
          <a:latin typeface="+mn-lt"/>
          <a:ea typeface="+mn-lt"/>
          <a:cs typeface="+mn-lt"/>
        </a:defRPr>
      </a:lvl1pPr>
      <a:lvl2pPr marL="457200" algn="l" defTabSz="914400">
        <a:buNone/>
        <a:defRPr sz="1800" kern="1200">
          <a:solidFill>
            <a:schemeClr val="tx1"/>
          </a:solidFill>
          <a:latin typeface="+mn-lt"/>
          <a:ea typeface="+mn-lt"/>
          <a:cs typeface="+mn-lt"/>
        </a:defRPr>
      </a:lvl2pPr>
      <a:lvl3pPr marL="914400" algn="l" defTabSz="914400">
        <a:buNone/>
        <a:defRPr sz="1800" kern="1200">
          <a:solidFill>
            <a:schemeClr val="tx1"/>
          </a:solidFill>
          <a:latin typeface="+mn-lt"/>
          <a:ea typeface="+mn-lt"/>
          <a:cs typeface="+mn-lt"/>
        </a:defRPr>
      </a:lvl3pPr>
      <a:lvl4pPr marL="1371600" algn="l" defTabSz="914400">
        <a:buNone/>
        <a:defRPr sz="1800" kern="1200">
          <a:solidFill>
            <a:schemeClr val="tx1"/>
          </a:solidFill>
          <a:latin typeface="+mn-lt"/>
          <a:ea typeface="+mn-lt"/>
          <a:cs typeface="+mn-lt"/>
        </a:defRPr>
      </a:lvl4pPr>
      <a:lvl5pPr marL="1828800" algn="l" defTabSz="914400">
        <a:buNone/>
        <a:defRPr sz="1800" kern="1200">
          <a:solidFill>
            <a:schemeClr val="tx1"/>
          </a:solidFill>
          <a:latin typeface="+mn-lt"/>
          <a:ea typeface="+mn-lt"/>
          <a:cs typeface="+mn-lt"/>
        </a:defRPr>
      </a:lvl5pPr>
      <a:lvl6pPr marL="2286000" algn="l" defTabSz="914400">
        <a:buNone/>
        <a:defRPr sz="1800" kern="1200">
          <a:solidFill>
            <a:schemeClr val="tx1"/>
          </a:solidFill>
          <a:latin typeface="+mn-lt"/>
          <a:ea typeface="+mn-lt"/>
          <a:cs typeface="+mn-lt"/>
        </a:defRPr>
      </a:lvl6pPr>
      <a:lvl7pPr marL="2743200" algn="l" defTabSz="914400">
        <a:buNone/>
        <a:defRPr sz="1800" kern="1200">
          <a:solidFill>
            <a:schemeClr val="tx1"/>
          </a:solidFill>
          <a:latin typeface="+mn-lt"/>
          <a:ea typeface="+mn-lt"/>
          <a:cs typeface="+mn-lt"/>
        </a:defRPr>
      </a:lvl7pPr>
      <a:lvl8pPr marL="3200400" algn="l" defTabSz="914400">
        <a:buNone/>
        <a:defRPr sz="1800" kern="1200">
          <a:solidFill>
            <a:schemeClr val="tx1"/>
          </a:solidFill>
          <a:latin typeface="+mn-lt"/>
          <a:ea typeface="+mn-lt"/>
          <a:cs typeface="+mn-lt"/>
        </a:defRPr>
      </a:lvl8pPr>
      <a:lvl9pPr marL="3657600" algn="l" defTabSz="914400">
        <a:buNone/>
        <a:defRPr sz="1800" kern="12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76054E-6BDC-5965-777B-8E5A146AF99F}"/>
              </a:ext>
            </a:extLst>
          </p:cNvPr>
          <p:cNvSpPr>
            <a:spLocks noGrp="1"/>
          </p:cNvSpPr>
          <p:nvPr>
            <p:ph type="ctrTitle"/>
          </p:nvPr>
        </p:nvSpPr>
        <p:spPr>
          <a:xfrm>
            <a:off x="666750" y="428625"/>
            <a:ext cx="10858500" cy="857250"/>
          </a:xfrm>
        </p:spPr>
        <p:txBody>
          <a:bodyPr>
            <a:normAutofit/>
          </a:bodyPr>
          <a:lstStyle/>
          <a:p>
            <a:pPr algn="l">
              <a:defRPr sz="3150" b="1">
                <a:solidFill>
                  <a:srgbClr val="172B45"/>
                </a:solidFill>
                <a:latin typeface="Aptos"/>
                <a:ea typeface="Aptos"/>
                <a:cs typeface="Aptos"/>
              </a:defRPr>
            </a:pPr>
            <a:r>
              <a:rPr sz="3150" b="1">
                <a:solidFill>
                  <a:srgbClr val="172B45"/>
                </a:solidFill>
                <a:latin typeface="Aptos"/>
                <a:ea typeface="Aptos"/>
                <a:cs typeface="Aptos"/>
              </a:rPr>
              <a:t>Problem statement</a:t>
            </a:r>
            <a:endParaRPr/>
          </a:p>
        </p:txBody>
      </p:sp>
      <p:sp>
        <p:nvSpPr>
          <p:cNvPr id="3" name="Subtitle 2">
            <a:extLst>
              <a:ext uri="{FF2B5EF4-FFF2-40B4-BE49-F238E27FC236}">
                <a16:creationId xmlns:a16="http://schemas.microsoft.com/office/drawing/2014/main" id="{1E47AFC6-C82A-2922-535F-D3662ED622F1}"/>
              </a:ext>
            </a:extLst>
          </p:cNvPr>
          <p:cNvSpPr>
            <a:spLocks noGrp="1"/>
          </p:cNvSpPr>
          <p:nvPr>
            <p:ph type="subTitle" idx="1"/>
          </p:nvPr>
        </p:nvSpPr>
        <p:spPr>
          <a:xfrm>
            <a:off x="762000" y="1714500"/>
            <a:ext cx="10572750" cy="3238500"/>
          </a:xfrm>
        </p:spPr>
        <p:txBody>
          <a:bodyPr>
            <a:noAutofit/>
          </a:bodyPr>
          <a:lstStyle/>
          <a:p>
            <a:pPr algn="l">
              <a:defRPr sz="2325">
                <a:solidFill>
                  <a:srgbClr val="172B45"/>
                </a:solidFill>
                <a:latin typeface="Aptos"/>
                <a:ea typeface="Aptos"/>
                <a:cs typeface="Aptos"/>
              </a:defRPr>
            </a:pPr>
            <a:r>
              <a:rPr sz="2325">
                <a:solidFill>
                  <a:srgbClr val="172B45"/>
                </a:solidFill>
                <a:latin typeface="Aptos"/>
                <a:ea typeface="Aptos"/>
                <a:cs typeface="Aptos"/>
              </a:rPr>
              <a:t>The rapid expansion of AI-related employment has created inconsistent and overlapping job titles across industries, making it difficult for job seekers and analysts to understand how AI roles differ in compensation, experience expectations, work arrangements, and market positioning. </a:t>
            </a:r>
            <a:r>
              <a:rPr sz="2325" dirty="0">
                <a:solidFill>
                  <a:srgbClr val="172B45"/>
                </a:solidFill>
                <a:latin typeface="Aptos"/>
                <a:ea typeface="Aptos"/>
                <a:cs typeface="Aptos"/>
              </a:rPr>
              <a:t>This project aims to identify meaningful categories of AI jobs across North America and explain the characteristics that distinguish them and what can be expected of them.</a:t>
            </a:r>
          </a:p>
        </p:txBody>
      </p:sp>
      <p:sp>
        <p:nvSpPr>
          <p:cNvPr id="4" name="Rectangle 3">
            <a:extLst>
              <a:ext uri="{FF2B5EF4-FFF2-40B4-BE49-F238E27FC236}">
                <a16:creationId xmlns:a16="http://schemas.microsoft.com/office/drawing/2014/main" id="{747FBD86-6753-4384-B1B5-8EAF68445059}"/>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AI Jobs Project   Bruno Sanchez Parra</a:t>
            </a:r>
          </a:p>
        </p:txBody>
      </p:sp>
    </p:spTree>
    <p:extLst>
      <p:ext uri="{BB962C8B-B14F-4D97-AF65-F5344CB8AC3E}">
        <p14:creationId xmlns:p14="http://schemas.microsoft.com/office/powerpoint/2010/main" val="22387622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0644B927-73A3-458F-B751-0D0531DDBC66}"/>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Executive findings</a:t>
            </a:r>
          </a:p>
        </p:txBody>
      </p:sp>
      <p:sp>
        <p:nvSpPr>
          <p:cNvPr id="2" name="Rectangle 1">
            <a:extLst>
              <a:ext uri="{FF2B5EF4-FFF2-40B4-BE49-F238E27FC236}">
                <a16:creationId xmlns:a16="http://schemas.microsoft.com/office/drawing/2014/main" id="{204944D8-4D03-44E3-B55F-9DA85825D72B}"/>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2</a:t>
            </a:r>
          </a:p>
        </p:txBody>
      </p:sp>
      <p:sp>
        <p:nvSpPr>
          <p:cNvPr id="3" name="Rectangle 2">
            <a:extLst>
              <a:ext uri="{FF2B5EF4-FFF2-40B4-BE49-F238E27FC236}">
                <a16:creationId xmlns:a16="http://schemas.microsoft.com/office/drawing/2014/main" id="{38B3EBE2-C70D-4569-A421-7F5285D6DAB0}"/>
              </a:ext>
            </a:extLst>
          </p:cNvPr>
          <p:cNvSpPr>
            <a:spLocks noGrp="1"/>
          </p:cNvSpPr>
          <p:nvPr/>
        </p:nvSpPr>
        <p:spPr>
          <a:xfrm>
            <a:off x="762000" y="1571625"/>
            <a:ext cx="10572750" cy="857250"/>
          </a:xfrm>
          <a:prstGeom prst="rect">
            <a:avLst/>
          </a:prstGeom>
          <a:noFill/>
          <a:ln w="0">
            <a:noFill/>
          </a:ln>
        </p:spPr>
        <p:txBody>
          <a:bodyPr>
            <a:noAutofit/>
          </a:bodyPr>
          <a:lstStyle/>
          <a:p>
            <a:pPr>
              <a:defRPr sz="2100" b="0">
                <a:solidFill>
                  <a:srgbClr val="172B45"/>
                </a:solidFill>
                <a:latin typeface="Aptos"/>
                <a:ea typeface="Aptos"/>
                <a:cs typeface="Aptos"/>
              </a:defRPr>
            </a:pPr>
            <a:r>
              <a:rPr sz="2100" b="0">
                <a:solidFill>
                  <a:srgbClr val="172B45"/>
                </a:solidFill>
                <a:latin typeface="Aptos"/>
                <a:ea typeface="Aptos"/>
                <a:cs typeface="Aptos"/>
              </a:rPr>
              <a:t>Specializations have recognizable skill profiles that can inform role definitions and hiring criteria.</a:t>
            </a:r>
          </a:p>
        </p:txBody>
      </p:sp>
      <p:sp>
        <p:nvSpPr>
          <p:cNvPr id="4" name="Rectangle 3">
            <a:extLst>
              <a:ext uri="{FF2B5EF4-FFF2-40B4-BE49-F238E27FC236}">
                <a16:creationId xmlns:a16="http://schemas.microsoft.com/office/drawing/2014/main" id="{2F6B79A2-2B18-4133-A468-48CA9D31D97C}"/>
              </a:ext>
            </a:extLst>
          </p:cNvPr>
          <p:cNvSpPr>
            <a:spLocks noGrp="1"/>
          </p:cNvSpPr>
          <p:nvPr/>
        </p:nvSpPr>
        <p:spPr>
          <a:xfrm>
            <a:off x="762000" y="2571750"/>
            <a:ext cx="10572750" cy="857250"/>
          </a:xfrm>
          <a:prstGeom prst="rect">
            <a:avLst/>
          </a:prstGeom>
          <a:noFill/>
          <a:ln w="0">
            <a:noFill/>
          </a:ln>
        </p:spPr>
        <p:txBody>
          <a:bodyPr>
            <a:noAutofit/>
          </a:bodyPr>
          <a:lstStyle/>
          <a:p>
            <a:pPr>
              <a:defRPr sz="2100" b="0">
                <a:solidFill>
                  <a:srgbClr val="172B45"/>
                </a:solidFill>
                <a:latin typeface="Aptos"/>
                <a:ea typeface="Aptos"/>
                <a:cs typeface="Aptos"/>
              </a:defRPr>
            </a:pPr>
            <a:r>
              <a:rPr sz="2100" b="0">
                <a:solidFill>
                  <a:srgbClr val="172B45"/>
                </a:solidFill>
                <a:latin typeface="Aptos"/>
                <a:ea typeface="Aptos"/>
                <a:cs typeface="Aptos"/>
              </a:rPr>
              <a:t>Experience dominates the current salary models, with only a modest advantage for Random Forest.</a:t>
            </a:r>
          </a:p>
        </p:txBody>
      </p:sp>
      <p:sp>
        <p:nvSpPr>
          <p:cNvPr id="5" name="Rectangle 4">
            <a:extLst>
              <a:ext uri="{FF2B5EF4-FFF2-40B4-BE49-F238E27FC236}">
                <a16:creationId xmlns:a16="http://schemas.microsoft.com/office/drawing/2014/main" id="{7DC9141E-1C59-4BC2-9595-D1BBCC1F2A6B}"/>
              </a:ext>
            </a:extLst>
          </p:cNvPr>
          <p:cNvSpPr>
            <a:spLocks noGrp="1"/>
          </p:cNvSpPr>
          <p:nvPr/>
        </p:nvSpPr>
        <p:spPr>
          <a:xfrm>
            <a:off x="762000" y="3571875"/>
            <a:ext cx="10572750" cy="857250"/>
          </a:xfrm>
          <a:prstGeom prst="rect">
            <a:avLst/>
          </a:prstGeom>
          <a:noFill/>
          <a:ln w="0">
            <a:noFill/>
          </a:ln>
        </p:spPr>
        <p:txBody>
          <a:bodyPr>
            <a:noAutofit/>
          </a:bodyPr>
          <a:lstStyle/>
          <a:p>
            <a:pPr>
              <a:defRPr sz="2100" b="0">
                <a:solidFill>
                  <a:srgbClr val="172B45"/>
                </a:solidFill>
                <a:latin typeface="Aptos"/>
                <a:ea typeface="Aptos"/>
                <a:cs typeface="Aptos"/>
              </a:defRPr>
            </a:pPr>
            <a:r>
              <a:rPr sz="2100" b="0">
                <a:solidFill>
                  <a:srgbClr val="172B45"/>
                </a:solidFill>
                <a:latin typeface="Aptos"/>
                <a:ea typeface="Aptos"/>
                <a:cs typeface="Aptos"/>
              </a:rPr>
              <a:t>Salary results remain provisional. Currency conversion and country labels need correction before compensation planning.</a:t>
            </a:r>
          </a:p>
        </p:txBody>
      </p:sp>
    </p:spTree>
    <p:extLst>
      <p:ext uri="{BB962C8B-B14F-4D97-AF65-F5344CB8AC3E}">
        <p14:creationId xmlns:p14="http://schemas.microsoft.com/office/powerpoint/2010/main" val="9146074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C92000DF-CA41-4D28-95C9-578EB291F23E}"/>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Evidence behind the findings</a:t>
            </a:r>
          </a:p>
        </p:txBody>
      </p:sp>
      <p:sp>
        <p:nvSpPr>
          <p:cNvPr id="2" name="Rectangle 1">
            <a:extLst>
              <a:ext uri="{FF2B5EF4-FFF2-40B4-BE49-F238E27FC236}">
                <a16:creationId xmlns:a16="http://schemas.microsoft.com/office/drawing/2014/main" id="{74D489C7-6DFB-43D2-97DD-AB7E5FAF0B4F}"/>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3</a:t>
            </a:r>
          </a:p>
        </p:txBody>
      </p:sp>
      <p:graphicFrame>
        <p:nvGraphicFramePr>
          <p:cNvPr id="7" name="Table 6"/>
          <p:cNvGraphicFramePr/>
          <p:nvPr/>
        </p:nvGraphicFramePr>
        <p:xfrm>
          <a:off x="762000" y="1524000"/>
          <a:ext cx="10668000" cy="3143252"/>
        </p:xfrm>
        <a:graphic>
          <a:graphicData uri="http://schemas.openxmlformats.org/drawingml/2006/table">
            <a:tbl>
              <a:tblPr/>
              <a:tblGrid>
                <a:gridCol w="3905250">
                  <a:extLst>
                    <a:ext uri="{9D8B030D-6E8A-4147-A177-3AD203B41FA5}">
                      <a16:colId xmlns:a16="http://schemas.microsoft.com/office/drawing/2014/main" val="20000"/>
                    </a:ext>
                  </a:extLst>
                </a:gridCol>
                <a:gridCol w="6762750">
                  <a:extLst>
                    <a:ext uri="{9D8B030D-6E8A-4147-A177-3AD203B41FA5}">
                      <a16:colId xmlns:a16="http://schemas.microsoft.com/office/drawing/2014/main" val="20001"/>
                    </a:ext>
                  </a:extLst>
                </a:gridCol>
              </a:tblGrid>
              <a:tr h="785813">
                <a:tc>
                  <a:txBody>
                    <a:bodyPr/>
                    <a:lstStyle/>
                    <a:p>
                      <a:r>
                        <a:rPr sz="1950" b="1">
                          <a:solidFill>
                            <a:srgbClr val="FFFFFF"/>
                          </a:solidFill>
                          <a:latin typeface="Aptos"/>
                          <a:ea typeface="Aptos"/>
                          <a:cs typeface="Aptos"/>
                        </a:rPr>
                        <a:t>Analysis scope</a:t>
                      </a:r>
                    </a:p>
                  </a:txBody>
                  <a:tcPr>
                    <a:solidFill>
                      <a:srgbClr val="172B45"/>
                    </a:solidFill>
                  </a:tcPr>
                </a:tc>
                <a:tc>
                  <a:txBody>
                    <a:bodyPr/>
                    <a:lstStyle/>
                    <a:p>
                      <a:r>
                        <a:rPr sz="1950" b="1">
                          <a:solidFill>
                            <a:srgbClr val="FFFFFF"/>
                          </a:solidFill>
                          <a:latin typeface="Aptos"/>
                          <a:ea typeface="Aptos"/>
                          <a:cs typeface="Aptos"/>
                        </a:rPr>
                        <a:t>What it covers</a:t>
                      </a:r>
                    </a:p>
                  </a:txBody>
                  <a:tcPr>
                    <a:solidFill>
                      <a:srgbClr val="172B45"/>
                    </a:solidFill>
                  </a:tcPr>
                </a:tc>
                <a:extLst>
                  <a:ext uri="{0D108BD9-81ED-4DB2-BD59-A6C34878D82A}">
                    <a16:rowId xmlns:a16="http://schemas.microsoft.com/office/drawing/2014/main" val="10000"/>
                  </a:ext>
                </a:extLst>
              </a:tr>
              <a:tr h="785813">
                <a:tc>
                  <a:txBody>
                    <a:bodyPr/>
                    <a:lstStyle/>
                    <a:p>
                      <a:r>
                        <a:rPr sz="1950" b="0">
                          <a:solidFill>
                            <a:srgbClr val="172B45"/>
                          </a:solidFill>
                          <a:latin typeface="Aptos"/>
                          <a:ea typeface="Aptos"/>
                          <a:cs typeface="Aptos"/>
                        </a:rPr>
                        <a:t>8,766 job postings</a:t>
                      </a:r>
                    </a:p>
                  </a:txBody>
                  <a:tcPr>
                    <a:solidFill>
                      <a:srgbClr val="F0F4F8"/>
                    </a:solidFill>
                  </a:tcPr>
                </a:tc>
                <a:tc>
                  <a:txBody>
                    <a:bodyPr/>
                    <a:lstStyle/>
                    <a:p>
                      <a:r>
                        <a:rPr sz="1950" b="0">
                          <a:solidFill>
                            <a:srgbClr val="172B45"/>
                          </a:solidFill>
                          <a:latin typeface="Aptos"/>
                          <a:ea typeface="Aptos"/>
                          <a:cs typeface="Aptos"/>
                        </a:rPr>
                        <a:t>4,370 United States and 4,396 Canada</a:t>
                      </a:r>
                    </a:p>
                  </a:txBody>
                  <a:tcPr>
                    <a:solidFill>
                      <a:srgbClr val="F0F4F8"/>
                    </a:solidFill>
                  </a:tcPr>
                </a:tc>
                <a:extLst>
                  <a:ext uri="{0D108BD9-81ED-4DB2-BD59-A6C34878D82A}">
                    <a16:rowId xmlns:a16="http://schemas.microsoft.com/office/drawing/2014/main" val="10001"/>
                  </a:ext>
                </a:extLst>
              </a:tr>
              <a:tr h="785813">
                <a:tc>
                  <a:txBody>
                    <a:bodyPr/>
                    <a:lstStyle/>
                    <a:p>
                      <a:r>
                        <a:rPr sz="1950" b="0">
                          <a:solidFill>
                            <a:srgbClr val="172B45"/>
                          </a:solidFill>
                          <a:latin typeface="Aptos"/>
                          <a:ea typeface="Aptos"/>
                          <a:cs typeface="Aptos"/>
                        </a:rPr>
                        <a:t>22 source variables</a:t>
                      </a:r>
                    </a:p>
                  </a:txBody>
                  <a:tcPr>
                    <a:solidFill>
                      <a:srgbClr val="FFFFFF"/>
                    </a:solidFill>
                  </a:tcPr>
                </a:tc>
                <a:tc>
                  <a:txBody>
                    <a:bodyPr/>
                    <a:lstStyle/>
                    <a:p>
                      <a:r>
                        <a:rPr sz="1950" b="0">
                          <a:solidFill>
                            <a:srgbClr val="172B45"/>
                          </a:solidFill>
                          <a:latin typeface="Aptos"/>
                          <a:ea typeface="Aptos"/>
                          <a:cs typeface="Aptos"/>
                        </a:rPr>
                        <a:t>Skills, experience, compensation, and job characteristics</a:t>
                      </a:r>
                    </a:p>
                  </a:txBody>
                  <a:tcPr>
                    <a:solidFill>
                      <a:srgbClr val="FFFFFF"/>
                    </a:solidFill>
                  </a:tcPr>
                </a:tc>
                <a:extLst>
                  <a:ext uri="{0D108BD9-81ED-4DB2-BD59-A6C34878D82A}">
                    <a16:rowId xmlns:a16="http://schemas.microsoft.com/office/drawing/2014/main" val="10002"/>
                  </a:ext>
                </a:extLst>
              </a:tr>
              <a:tr h="785813">
                <a:tc>
                  <a:txBody>
                    <a:bodyPr/>
                    <a:lstStyle/>
                    <a:p>
                      <a:r>
                        <a:rPr sz="1950" b="0">
                          <a:solidFill>
                            <a:srgbClr val="172B45"/>
                          </a:solidFill>
                          <a:latin typeface="Aptos"/>
                          <a:ea typeface="Aptos"/>
                          <a:cs typeface="Aptos"/>
                        </a:rPr>
                        <a:t>19 frequently listed titles</a:t>
                      </a:r>
                    </a:p>
                  </a:txBody>
                  <a:tcPr>
                    <a:solidFill>
                      <a:srgbClr val="F0F4F8"/>
                    </a:solidFill>
                  </a:tcPr>
                </a:tc>
                <a:tc>
                  <a:txBody>
                    <a:bodyPr/>
                    <a:lstStyle/>
                    <a:p>
                      <a:r>
                        <a:rPr sz="1950" b="0">
                          <a:solidFill>
                            <a:srgbClr val="172B45"/>
                          </a:solidFill>
                          <a:latin typeface="Aptos"/>
                          <a:ea typeface="Aptos"/>
                          <a:cs typeface="Aptos"/>
                        </a:rPr>
                        <a:t>8,741 postings for detailed title and skill comparisons</a:t>
                      </a:r>
                    </a:p>
                  </a:txBody>
                  <a:tcPr>
                    <a:solidFill>
                      <a:srgbClr val="F0F4F8"/>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B8A1122F-8734-47EB-9531-1A995FC41105}"/>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Source: AI Jobs Dataset 2026 via KaggleHub. Sample patterns do not estimate the entire AI labor market.</a:t>
            </a:r>
          </a:p>
        </p:txBody>
      </p:sp>
    </p:spTree>
    <p:extLst>
      <p:ext uri="{BB962C8B-B14F-4D97-AF65-F5344CB8AC3E}">
        <p14:creationId xmlns:p14="http://schemas.microsoft.com/office/powerpoint/2010/main" val="138791122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2DA3F644-CE0B-402B-B0DD-38111CA48D4A}"/>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Specialization is a useful starting point for hiring</a:t>
            </a:r>
          </a:p>
        </p:txBody>
      </p:sp>
      <p:sp>
        <p:nvSpPr>
          <p:cNvPr id="2" name="Rectangle 1">
            <a:extLst>
              <a:ext uri="{FF2B5EF4-FFF2-40B4-BE49-F238E27FC236}">
                <a16:creationId xmlns:a16="http://schemas.microsoft.com/office/drawing/2014/main" id="{492D9C9F-7917-4546-9251-AE83065342E5}"/>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4</a:t>
            </a:r>
          </a:p>
        </p:txBody>
      </p:sp>
      <p:graphicFrame>
        <p:nvGraphicFramePr>
          <p:cNvPr id="8" name="Table 7"/>
          <p:cNvGraphicFramePr/>
          <p:nvPr/>
        </p:nvGraphicFramePr>
        <p:xfrm>
          <a:off x="762000" y="1476375"/>
          <a:ext cx="10668000" cy="3429000"/>
        </p:xfrm>
        <a:graphic>
          <a:graphicData uri="http://schemas.openxmlformats.org/drawingml/2006/table">
            <a:tbl>
              <a:tblPr/>
              <a:tblGrid>
                <a:gridCol w="2857500">
                  <a:extLst>
                    <a:ext uri="{9D8B030D-6E8A-4147-A177-3AD203B41FA5}">
                      <a16:colId xmlns:a16="http://schemas.microsoft.com/office/drawing/2014/main" val="20000"/>
                    </a:ext>
                  </a:extLst>
                </a:gridCol>
                <a:gridCol w="3714750">
                  <a:extLst>
                    <a:ext uri="{9D8B030D-6E8A-4147-A177-3AD203B41FA5}">
                      <a16:colId xmlns:a16="http://schemas.microsoft.com/office/drawing/2014/main" val="20001"/>
                    </a:ext>
                  </a:extLst>
                </a:gridCol>
                <a:gridCol w="4095750">
                  <a:extLst>
                    <a:ext uri="{9D8B030D-6E8A-4147-A177-3AD203B41FA5}">
                      <a16:colId xmlns:a16="http://schemas.microsoft.com/office/drawing/2014/main" val="20002"/>
                    </a:ext>
                  </a:extLst>
                </a:gridCol>
              </a:tblGrid>
              <a:tr h="685800">
                <a:tc>
                  <a:txBody>
                    <a:bodyPr/>
                    <a:lstStyle/>
                    <a:p>
                      <a:r>
                        <a:rPr sz="1800" b="1">
                          <a:solidFill>
                            <a:srgbClr val="FFFFFF"/>
                          </a:solidFill>
                          <a:latin typeface="Aptos"/>
                          <a:ea typeface="Aptos"/>
                          <a:cs typeface="Aptos"/>
                        </a:rPr>
                        <a:t>Role family</a:t>
                      </a:r>
                    </a:p>
                  </a:txBody>
                  <a:tcPr>
                    <a:solidFill>
                      <a:srgbClr val="172B45"/>
                    </a:solidFill>
                  </a:tcPr>
                </a:tc>
                <a:tc>
                  <a:txBody>
                    <a:bodyPr/>
                    <a:lstStyle/>
                    <a:p>
                      <a:r>
                        <a:rPr sz="1800" b="1">
                          <a:solidFill>
                            <a:srgbClr val="FFFFFF"/>
                          </a:solidFill>
                          <a:latin typeface="Aptos"/>
                          <a:ea typeface="Aptos"/>
                          <a:cs typeface="Aptos"/>
                        </a:rPr>
                        <a:t>Technical focus</a:t>
                      </a:r>
                    </a:p>
                  </a:txBody>
                  <a:tcPr>
                    <a:solidFill>
                      <a:srgbClr val="172B45"/>
                    </a:solidFill>
                  </a:tcPr>
                </a:tc>
                <a:tc>
                  <a:txBody>
                    <a:bodyPr/>
                    <a:lstStyle/>
                    <a:p>
                      <a:r>
                        <a:rPr sz="1800" b="1">
                          <a:solidFill>
                            <a:srgbClr val="FFFFFF"/>
                          </a:solidFill>
                          <a:latin typeface="Aptos"/>
                          <a:ea typeface="Aptos"/>
                          <a:cs typeface="Aptos"/>
                        </a:rPr>
                        <a:t>Examples in the report</a:t>
                      </a:r>
                    </a:p>
                  </a:txBody>
                  <a:tcPr>
                    <a:solidFill>
                      <a:srgbClr val="172B45"/>
                    </a:solidFill>
                  </a:tcPr>
                </a:tc>
                <a:extLst>
                  <a:ext uri="{0D108BD9-81ED-4DB2-BD59-A6C34878D82A}">
                    <a16:rowId xmlns:a16="http://schemas.microsoft.com/office/drawing/2014/main" val="10000"/>
                  </a:ext>
                </a:extLst>
              </a:tr>
              <a:tr h="685800">
                <a:tc>
                  <a:txBody>
                    <a:bodyPr/>
                    <a:lstStyle/>
                    <a:p>
                      <a:r>
                        <a:rPr sz="1800" b="0">
                          <a:solidFill>
                            <a:srgbClr val="172B45"/>
                          </a:solidFill>
                          <a:latin typeface="Aptos"/>
                          <a:ea typeface="Aptos"/>
                          <a:cs typeface="Aptos"/>
                        </a:rPr>
                        <a:t>Machine Learning</a:t>
                      </a:r>
                    </a:p>
                  </a:txBody>
                  <a:tcPr>
                    <a:solidFill>
                      <a:srgbClr val="F0F4F8"/>
                    </a:solidFill>
                  </a:tcPr>
                </a:tc>
                <a:tc>
                  <a:txBody>
                    <a:bodyPr/>
                    <a:lstStyle/>
                    <a:p>
                      <a:r>
                        <a:rPr sz="1800" b="0">
                          <a:solidFill>
                            <a:srgbClr val="172B45"/>
                          </a:solidFill>
                          <a:latin typeface="Aptos"/>
                          <a:ea typeface="Aptos"/>
                          <a:cs typeface="Aptos"/>
                        </a:rPr>
                        <a:t>Model development</a:t>
                      </a:r>
                    </a:p>
                  </a:txBody>
                  <a:tcPr>
                    <a:solidFill>
                      <a:srgbClr val="F0F4F8"/>
                    </a:solidFill>
                  </a:tcPr>
                </a:tc>
                <a:tc>
                  <a:txBody>
                    <a:bodyPr/>
                    <a:lstStyle/>
                    <a:p>
                      <a:r>
                        <a:rPr sz="1800" b="0">
                          <a:solidFill>
                            <a:srgbClr val="172B45"/>
                          </a:solidFill>
                          <a:latin typeface="Aptos"/>
                          <a:ea typeface="Aptos"/>
                          <a:cs typeface="Aptos"/>
                        </a:rPr>
                        <a:t>Feature engineering, XGBoost</a:t>
                      </a:r>
                    </a:p>
                  </a:txBody>
                  <a:tcPr>
                    <a:solidFill>
                      <a:srgbClr val="F0F4F8"/>
                    </a:solidFill>
                  </a:tcPr>
                </a:tc>
                <a:extLst>
                  <a:ext uri="{0D108BD9-81ED-4DB2-BD59-A6C34878D82A}">
                    <a16:rowId xmlns:a16="http://schemas.microsoft.com/office/drawing/2014/main" val="10001"/>
                  </a:ext>
                </a:extLst>
              </a:tr>
              <a:tr h="685800">
                <a:tc>
                  <a:txBody>
                    <a:bodyPr/>
                    <a:lstStyle/>
                    <a:p>
                      <a:r>
                        <a:rPr sz="1800" b="0">
                          <a:solidFill>
                            <a:srgbClr val="172B45"/>
                          </a:solidFill>
                          <a:latin typeface="Aptos"/>
                          <a:ea typeface="Aptos"/>
                          <a:cs typeface="Aptos"/>
                        </a:rPr>
                        <a:t>Generative AI</a:t>
                      </a:r>
                    </a:p>
                  </a:txBody>
                  <a:tcPr>
                    <a:solidFill>
                      <a:srgbClr val="FFFFFF"/>
                    </a:solidFill>
                  </a:tcPr>
                </a:tc>
                <a:tc>
                  <a:txBody>
                    <a:bodyPr/>
                    <a:lstStyle/>
                    <a:p>
                      <a:r>
                        <a:rPr sz="1800" b="0">
                          <a:solidFill>
                            <a:srgbClr val="172B45"/>
                          </a:solidFill>
                          <a:latin typeface="Aptos"/>
                          <a:ea typeface="Aptos"/>
                          <a:cs typeface="Aptos"/>
                        </a:rPr>
                        <a:t>Applications using language models</a:t>
                      </a:r>
                    </a:p>
                  </a:txBody>
                  <a:tcPr>
                    <a:solidFill>
                      <a:srgbClr val="FFFFFF"/>
                    </a:solidFill>
                  </a:tcPr>
                </a:tc>
                <a:tc>
                  <a:txBody>
                    <a:bodyPr/>
                    <a:lstStyle/>
                    <a:p>
                      <a:r>
                        <a:rPr sz="1800" b="0">
                          <a:solidFill>
                            <a:srgbClr val="172B45"/>
                          </a:solidFill>
                          <a:latin typeface="Aptos"/>
                          <a:ea typeface="Aptos"/>
                          <a:cs typeface="Aptos"/>
                        </a:rPr>
                        <a:t>RAG, vector databases, fine-tuning</a:t>
                      </a:r>
                    </a:p>
                  </a:txBody>
                  <a:tcPr>
                    <a:solidFill>
                      <a:srgbClr val="FFFFFF"/>
                    </a:solidFill>
                  </a:tcPr>
                </a:tc>
                <a:extLst>
                  <a:ext uri="{0D108BD9-81ED-4DB2-BD59-A6C34878D82A}">
                    <a16:rowId xmlns:a16="http://schemas.microsoft.com/office/drawing/2014/main" val="10002"/>
                  </a:ext>
                </a:extLst>
              </a:tr>
              <a:tr h="685800">
                <a:tc>
                  <a:txBody>
                    <a:bodyPr/>
                    <a:lstStyle/>
                    <a:p>
                      <a:r>
                        <a:rPr sz="1800" b="0">
                          <a:solidFill>
                            <a:srgbClr val="172B45"/>
                          </a:solidFill>
                          <a:latin typeface="Aptos"/>
                          <a:ea typeface="Aptos"/>
                          <a:cs typeface="Aptos"/>
                        </a:rPr>
                        <a:t>MLOps</a:t>
                      </a:r>
                    </a:p>
                  </a:txBody>
                  <a:tcPr>
                    <a:solidFill>
                      <a:srgbClr val="F0F4F8"/>
                    </a:solidFill>
                  </a:tcPr>
                </a:tc>
                <a:tc>
                  <a:txBody>
                    <a:bodyPr/>
                    <a:lstStyle/>
                    <a:p>
                      <a:r>
                        <a:rPr sz="1800" b="0">
                          <a:solidFill>
                            <a:srgbClr val="172B45"/>
                          </a:solidFill>
                          <a:latin typeface="Aptos"/>
                          <a:ea typeface="Aptos"/>
                          <a:cs typeface="Aptos"/>
                        </a:rPr>
                        <a:t>Deployment and operations</a:t>
                      </a:r>
                    </a:p>
                  </a:txBody>
                  <a:tcPr>
                    <a:solidFill>
                      <a:srgbClr val="F0F4F8"/>
                    </a:solidFill>
                  </a:tcPr>
                </a:tc>
                <a:tc>
                  <a:txBody>
                    <a:bodyPr/>
                    <a:lstStyle/>
                    <a:p>
                      <a:r>
                        <a:rPr sz="1800" b="0">
                          <a:solidFill>
                            <a:srgbClr val="172B45"/>
                          </a:solidFill>
                          <a:latin typeface="Aptos"/>
                          <a:ea typeface="Aptos"/>
                          <a:cs typeface="Aptos"/>
                        </a:rPr>
                        <a:t>Monitoring, Kubernetes, Terraform</a:t>
                      </a:r>
                    </a:p>
                  </a:txBody>
                  <a:tcPr>
                    <a:solidFill>
                      <a:srgbClr val="F0F4F8"/>
                    </a:solidFill>
                  </a:tcPr>
                </a:tc>
                <a:extLst>
                  <a:ext uri="{0D108BD9-81ED-4DB2-BD59-A6C34878D82A}">
                    <a16:rowId xmlns:a16="http://schemas.microsoft.com/office/drawing/2014/main" val="10003"/>
                  </a:ext>
                </a:extLst>
              </a:tr>
              <a:tr h="685800">
                <a:tc>
                  <a:txBody>
                    <a:bodyPr/>
                    <a:lstStyle/>
                    <a:p>
                      <a:r>
                        <a:rPr sz="1800" b="0">
                          <a:solidFill>
                            <a:srgbClr val="172B45"/>
                          </a:solidFill>
                          <a:latin typeface="Aptos"/>
                          <a:ea typeface="Aptos"/>
                          <a:cs typeface="Aptos"/>
                        </a:rPr>
                        <a:t>Computer Vision</a:t>
                      </a:r>
                    </a:p>
                  </a:txBody>
                  <a:tcPr>
                    <a:solidFill>
                      <a:srgbClr val="FFFFFF"/>
                    </a:solidFill>
                  </a:tcPr>
                </a:tc>
                <a:tc>
                  <a:txBody>
                    <a:bodyPr/>
                    <a:lstStyle/>
                    <a:p>
                      <a:r>
                        <a:rPr sz="1800" b="0">
                          <a:solidFill>
                            <a:srgbClr val="172B45"/>
                          </a:solidFill>
                          <a:latin typeface="Aptos"/>
                          <a:ea typeface="Aptos"/>
                          <a:cs typeface="Aptos"/>
                        </a:rPr>
                        <a:t>Image understanding</a:t>
                      </a:r>
                    </a:p>
                  </a:txBody>
                  <a:tcPr>
                    <a:solidFill>
                      <a:srgbClr val="FFFFFF"/>
                    </a:solidFill>
                  </a:tcPr>
                </a:tc>
                <a:tc>
                  <a:txBody>
                    <a:bodyPr/>
                    <a:lstStyle/>
                    <a:p>
                      <a:r>
                        <a:rPr sz="1800" b="0">
                          <a:solidFill>
                            <a:srgbClr val="172B45"/>
                          </a:solidFill>
                          <a:latin typeface="Aptos"/>
                          <a:ea typeface="Aptos"/>
                          <a:cs typeface="Aptos"/>
                        </a:rPr>
                        <a:t>OpenCV, OCR, YOLO</a:t>
                      </a:r>
                    </a:p>
                  </a:txBody>
                  <a:tcPr>
                    <a:solidFill>
                      <a:srgbClr val="FFFFFF"/>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A2A5B1EC-C73C-4016-8B4C-0097E49F746A}"/>
              </a:ext>
            </a:extLst>
          </p:cNvPr>
          <p:cNvSpPr>
            <a:spLocks noGrp="1"/>
          </p:cNvSpPr>
          <p:nvPr/>
        </p:nvSpPr>
        <p:spPr>
          <a:xfrm>
            <a:off x="762000" y="5191125"/>
            <a:ext cx="10572750" cy="666750"/>
          </a:xfrm>
          <a:prstGeom prst="rect">
            <a:avLst/>
          </a:prstGeom>
          <a:noFill/>
          <a:ln w="0">
            <a:noFill/>
          </a:ln>
        </p:spPr>
        <p:txBody>
          <a:bodyPr>
            <a:noAutofit/>
          </a:bodyPr>
          <a:lstStyle/>
          <a:p>
            <a:pPr>
              <a:defRPr sz="2100" b="0">
                <a:solidFill>
                  <a:srgbClr val="172B45"/>
                </a:solidFill>
                <a:latin typeface="Aptos"/>
                <a:ea typeface="Aptos"/>
                <a:cs typeface="Aptos"/>
              </a:defRPr>
            </a:pPr>
            <a:r>
              <a:rPr sz="2100" b="0">
                <a:solidFill>
                  <a:srgbClr val="172B45"/>
                </a:solidFill>
                <a:latin typeface="Aptos"/>
                <a:ea typeface="Aptos"/>
                <a:cs typeface="Aptos"/>
              </a:rPr>
              <a:t>Business implication: define the work and required capabilities before choosing the job title.</a:t>
            </a:r>
          </a:p>
        </p:txBody>
      </p:sp>
      <p:sp>
        <p:nvSpPr>
          <p:cNvPr id="5" name="Rectangle 4">
            <a:extLst>
              <a:ext uri="{FF2B5EF4-FFF2-40B4-BE49-F238E27FC236}">
                <a16:creationId xmlns:a16="http://schemas.microsoft.com/office/drawing/2014/main" id="{567E2813-192B-4780-8DB4-A3E751810055}"/>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Illustrative role families. The appendix includes all seven specialization profiles.</a:t>
            </a:r>
          </a:p>
        </p:txBody>
      </p:sp>
    </p:spTree>
    <p:extLst>
      <p:ext uri="{BB962C8B-B14F-4D97-AF65-F5344CB8AC3E}">
        <p14:creationId xmlns:p14="http://schemas.microsoft.com/office/powerpoint/2010/main" val="17043348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7919708-80D7-46F4-AFDE-90C908B7BF3E}"/>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Common tools support a shared skills foundation</a:t>
            </a:r>
          </a:p>
        </p:txBody>
      </p:sp>
      <p:sp>
        <p:nvSpPr>
          <p:cNvPr id="2" name="Rectangle 1">
            <a:extLst>
              <a:ext uri="{FF2B5EF4-FFF2-40B4-BE49-F238E27FC236}">
                <a16:creationId xmlns:a16="http://schemas.microsoft.com/office/drawing/2014/main" id="{29914BE1-518B-44BB-B080-212243D5A4D3}"/>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5</a:t>
            </a:r>
          </a:p>
        </p:txBody>
      </p:sp>
      <p:sp>
        <p:nvSpPr>
          <p:cNvPr id="3" name="Rectangle 2">
            <a:extLst>
              <a:ext uri="{FF2B5EF4-FFF2-40B4-BE49-F238E27FC236}">
                <a16:creationId xmlns:a16="http://schemas.microsoft.com/office/drawing/2014/main" id="{8DC3438A-03AA-473D-9DB7-0073E5753674}"/>
              </a:ext>
            </a:extLst>
          </p:cNvPr>
          <p:cNvSpPr>
            <a:spLocks noGrp="1"/>
          </p:cNvSpPr>
          <p:nvPr/>
        </p:nvSpPr>
        <p:spPr>
          <a:xfrm>
            <a:off x="762000" y="1619250"/>
            <a:ext cx="4286250" cy="1047750"/>
          </a:xfrm>
          <a:prstGeom prst="rect">
            <a:avLst/>
          </a:prstGeom>
          <a:noFill/>
          <a:ln w="0">
            <a:noFill/>
          </a:ln>
        </p:spPr>
        <p:txBody>
          <a:bodyPr>
            <a:noAutofit/>
          </a:bodyPr>
          <a:lstStyle/>
          <a:p>
            <a:pPr>
              <a:defRPr sz="6450" b="1">
                <a:solidFill>
                  <a:srgbClr val="275F96"/>
                </a:solidFill>
                <a:latin typeface="Aptos"/>
                <a:ea typeface="Aptos"/>
                <a:cs typeface="Aptos"/>
              </a:defRPr>
            </a:pPr>
            <a:r>
              <a:rPr sz="6450" b="1">
                <a:solidFill>
                  <a:srgbClr val="275F96"/>
                </a:solidFill>
                <a:latin typeface="Aptos"/>
                <a:ea typeface="Aptos"/>
                <a:cs typeface="Aptos"/>
              </a:rPr>
              <a:t>46%</a:t>
            </a:r>
          </a:p>
        </p:txBody>
      </p:sp>
      <p:sp>
        <p:nvSpPr>
          <p:cNvPr id="4" name="Rectangle 3">
            <a:extLst>
              <a:ext uri="{FF2B5EF4-FFF2-40B4-BE49-F238E27FC236}">
                <a16:creationId xmlns:a16="http://schemas.microsoft.com/office/drawing/2014/main" id="{A741049C-5D53-43AB-B537-A01DA1FF13A8}"/>
              </a:ext>
            </a:extLst>
          </p:cNvPr>
          <p:cNvSpPr>
            <a:spLocks noGrp="1"/>
          </p:cNvSpPr>
          <p:nvPr/>
        </p:nvSpPr>
        <p:spPr>
          <a:xfrm>
            <a:off x="762000" y="2857500"/>
            <a:ext cx="4572000" cy="857250"/>
          </a:xfrm>
          <a:prstGeom prst="rect">
            <a:avLst/>
          </a:prstGeom>
          <a:noFill/>
          <a:ln w="0">
            <a:noFill/>
          </a:ln>
        </p:spPr>
        <p:txBody>
          <a:bodyPr>
            <a:noAutofit/>
          </a:bodyPr>
          <a:lstStyle/>
          <a:p>
            <a:pPr>
              <a:defRPr sz="2250" b="0">
                <a:solidFill>
                  <a:srgbClr val="172B45"/>
                </a:solidFill>
                <a:latin typeface="Aptos"/>
                <a:ea typeface="Aptos"/>
                <a:cs typeface="Aptos"/>
              </a:defRPr>
            </a:pPr>
            <a:r>
              <a:rPr sz="2250" b="0">
                <a:solidFill>
                  <a:srgbClr val="172B45"/>
                </a:solidFill>
                <a:latin typeface="Aptos"/>
                <a:ea typeface="Aptos"/>
                <a:cs typeface="Aptos"/>
              </a:rPr>
              <a:t>Pandas in the popular-title sample</a:t>
            </a:r>
          </a:p>
        </p:txBody>
      </p:sp>
      <p:sp>
        <p:nvSpPr>
          <p:cNvPr id="5" name="Rectangle 4">
            <a:extLst>
              <a:ext uri="{FF2B5EF4-FFF2-40B4-BE49-F238E27FC236}">
                <a16:creationId xmlns:a16="http://schemas.microsoft.com/office/drawing/2014/main" id="{754CC2FA-E612-41B0-8C48-C21A4CEAB106}"/>
              </a:ext>
            </a:extLst>
          </p:cNvPr>
          <p:cNvSpPr>
            <a:spLocks noGrp="1"/>
          </p:cNvSpPr>
          <p:nvPr/>
        </p:nvSpPr>
        <p:spPr>
          <a:xfrm>
            <a:off x="6286500" y="1619250"/>
            <a:ext cx="5048250" cy="1047750"/>
          </a:xfrm>
          <a:prstGeom prst="rect">
            <a:avLst/>
          </a:prstGeom>
          <a:noFill/>
          <a:ln w="0">
            <a:noFill/>
          </a:ln>
        </p:spPr>
        <p:txBody>
          <a:bodyPr>
            <a:noAutofit/>
          </a:bodyPr>
          <a:lstStyle/>
          <a:p>
            <a:pPr>
              <a:defRPr sz="6450" b="1">
                <a:solidFill>
                  <a:srgbClr val="275F96"/>
                </a:solidFill>
                <a:latin typeface="Aptos"/>
                <a:ea typeface="Aptos"/>
                <a:cs typeface="Aptos"/>
              </a:defRPr>
            </a:pPr>
            <a:r>
              <a:rPr sz="6450" b="1">
                <a:solidFill>
                  <a:srgbClr val="275F96"/>
                </a:solidFill>
                <a:latin typeface="Aptos"/>
                <a:ea typeface="Aptos"/>
                <a:cs typeface="Aptos"/>
              </a:rPr>
              <a:t>39–40%</a:t>
            </a:r>
          </a:p>
        </p:txBody>
      </p:sp>
      <p:sp>
        <p:nvSpPr>
          <p:cNvPr id="6" name="Rectangle 5">
            <a:extLst>
              <a:ext uri="{FF2B5EF4-FFF2-40B4-BE49-F238E27FC236}">
                <a16:creationId xmlns:a16="http://schemas.microsoft.com/office/drawing/2014/main" id="{57019480-8A0B-4361-A9DF-9AA32C31C368}"/>
              </a:ext>
            </a:extLst>
          </p:cNvPr>
          <p:cNvSpPr>
            <a:spLocks noGrp="1"/>
          </p:cNvSpPr>
          <p:nvPr/>
        </p:nvSpPr>
        <p:spPr>
          <a:xfrm>
            <a:off x="6286500" y="2857500"/>
            <a:ext cx="5048250" cy="857250"/>
          </a:xfrm>
          <a:prstGeom prst="rect">
            <a:avLst/>
          </a:prstGeom>
          <a:noFill/>
          <a:ln w="0">
            <a:noFill/>
          </a:ln>
        </p:spPr>
        <p:txBody>
          <a:bodyPr>
            <a:noAutofit/>
          </a:bodyPr>
          <a:lstStyle/>
          <a:p>
            <a:pPr>
              <a:defRPr sz="2250" b="0">
                <a:solidFill>
                  <a:srgbClr val="172B45"/>
                </a:solidFill>
                <a:latin typeface="Aptos"/>
                <a:ea typeface="Aptos"/>
                <a:cs typeface="Aptos"/>
              </a:defRPr>
            </a:pPr>
            <a:r>
              <a:rPr sz="2250" b="0">
                <a:solidFill>
                  <a:srgbClr val="172B45"/>
                </a:solidFill>
                <a:latin typeface="Aptos"/>
                <a:ea typeface="Aptos"/>
                <a:cs typeface="Aptos"/>
              </a:rPr>
              <a:t>Several traditional ML tools and methods</a:t>
            </a:r>
          </a:p>
        </p:txBody>
      </p:sp>
      <p:sp>
        <p:nvSpPr>
          <p:cNvPr id="7" name="Rectangle 6">
            <a:extLst>
              <a:ext uri="{FF2B5EF4-FFF2-40B4-BE49-F238E27FC236}">
                <a16:creationId xmlns:a16="http://schemas.microsoft.com/office/drawing/2014/main" id="{41343D28-EEEB-4E18-B995-EEE379275F3A}"/>
              </a:ext>
            </a:extLst>
          </p:cNvPr>
          <p:cNvSpPr>
            <a:spLocks noGrp="1"/>
          </p:cNvSpPr>
          <p:nvPr/>
        </p:nvSpPr>
        <p:spPr>
          <a:xfrm>
            <a:off x="762000" y="4524375"/>
            <a:ext cx="10477500" cy="1047750"/>
          </a:xfrm>
          <a:prstGeom prst="rect">
            <a:avLst/>
          </a:prstGeom>
          <a:noFill/>
          <a:ln w="0">
            <a:noFill/>
          </a:ln>
        </p:spPr>
        <p:txBody>
          <a:bodyPr>
            <a:noAutofit/>
          </a:bodyPr>
          <a:lstStyle/>
          <a:p>
            <a:pPr>
              <a:defRPr sz="2250" b="0">
                <a:solidFill>
                  <a:srgbClr val="172B45"/>
                </a:solidFill>
                <a:latin typeface="Aptos"/>
                <a:ea typeface="Aptos"/>
                <a:cs typeface="Aptos"/>
              </a:defRPr>
            </a:pPr>
            <a:r>
              <a:rPr sz="2250" b="0">
                <a:solidFill>
                  <a:srgbClr val="172B45"/>
                </a:solidFill>
                <a:latin typeface="Aptos"/>
                <a:ea typeface="Aptos"/>
                <a:cs typeface="Aptos"/>
              </a:rPr>
              <a:t>Business implication: distinguish broadly useful skills from the capabilities specific to the role.</a:t>
            </a:r>
          </a:p>
        </p:txBody>
      </p:sp>
      <p:sp>
        <p:nvSpPr>
          <p:cNvPr id="8" name="Rectangle 7">
            <a:extLst>
              <a:ext uri="{FF2B5EF4-FFF2-40B4-BE49-F238E27FC236}">
                <a16:creationId xmlns:a16="http://schemas.microsoft.com/office/drawing/2014/main" id="{6356A763-1031-47A2-8551-D9C62926DBBD}"/>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Recorded skill frequency measures posting requirements, rather than verified candidate proficiency.</a:t>
            </a:r>
          </a:p>
        </p:txBody>
      </p:sp>
    </p:spTree>
    <p:extLst>
      <p:ext uri="{BB962C8B-B14F-4D97-AF65-F5344CB8AC3E}">
        <p14:creationId xmlns:p14="http://schemas.microsoft.com/office/powerpoint/2010/main" val="191299341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35B345F3-AF45-43CA-ACFE-3F09C8A8CD51}"/>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The sample favors mid-level, remote, full-time roles</a:t>
            </a:r>
          </a:p>
        </p:txBody>
      </p:sp>
      <p:sp>
        <p:nvSpPr>
          <p:cNvPr id="2" name="Rectangle 1">
            <a:extLst>
              <a:ext uri="{FF2B5EF4-FFF2-40B4-BE49-F238E27FC236}">
                <a16:creationId xmlns:a16="http://schemas.microsoft.com/office/drawing/2014/main" id="{C0E1FBBB-51F8-4D92-A19E-872506362E75}"/>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6</a:t>
            </a:r>
          </a:p>
        </p:txBody>
      </p:sp>
      <p:graphicFrame>
        <p:nvGraphicFramePr>
          <p:cNvPr id="8" name="Table 7"/>
          <p:cNvGraphicFramePr/>
          <p:nvPr/>
        </p:nvGraphicFramePr>
        <p:xfrm>
          <a:off x="762000" y="1524000"/>
          <a:ext cx="10668000" cy="2857500"/>
        </p:xfrm>
        <a:graphic>
          <a:graphicData uri="http://schemas.openxmlformats.org/drawingml/2006/table">
            <a:tbl>
              <a:tblPr/>
              <a:tblGrid>
                <a:gridCol w="3429000">
                  <a:extLst>
                    <a:ext uri="{9D8B030D-6E8A-4147-A177-3AD203B41FA5}">
                      <a16:colId xmlns:a16="http://schemas.microsoft.com/office/drawing/2014/main" val="20000"/>
                    </a:ext>
                  </a:extLst>
                </a:gridCol>
                <a:gridCol w="3429000">
                  <a:extLst>
                    <a:ext uri="{9D8B030D-6E8A-4147-A177-3AD203B41FA5}">
                      <a16:colId xmlns:a16="http://schemas.microsoft.com/office/drawing/2014/main" val="20001"/>
                    </a:ext>
                  </a:extLst>
                </a:gridCol>
                <a:gridCol w="3810000">
                  <a:extLst>
                    <a:ext uri="{9D8B030D-6E8A-4147-A177-3AD203B41FA5}">
                      <a16:colId xmlns:a16="http://schemas.microsoft.com/office/drawing/2014/main" val="20002"/>
                    </a:ext>
                  </a:extLst>
                </a:gridCol>
              </a:tblGrid>
              <a:tr h="714375">
                <a:tc>
                  <a:txBody>
                    <a:bodyPr/>
                    <a:lstStyle/>
                    <a:p>
                      <a:r>
                        <a:rPr sz="2100" b="1">
                          <a:solidFill>
                            <a:srgbClr val="FFFFFF"/>
                          </a:solidFill>
                          <a:latin typeface="Aptos"/>
                          <a:ea typeface="Aptos"/>
                          <a:cs typeface="Aptos"/>
                        </a:rPr>
                        <a:t>Posting characteristic</a:t>
                      </a:r>
                    </a:p>
                  </a:txBody>
                  <a:tcPr>
                    <a:solidFill>
                      <a:srgbClr val="172B45"/>
                    </a:solidFill>
                  </a:tcPr>
                </a:tc>
                <a:tc>
                  <a:txBody>
                    <a:bodyPr/>
                    <a:lstStyle/>
                    <a:p>
                      <a:r>
                        <a:rPr sz="2100" b="1">
                          <a:solidFill>
                            <a:srgbClr val="FFFFFF"/>
                          </a:solidFill>
                          <a:latin typeface="Aptos"/>
                          <a:ea typeface="Aptos"/>
                          <a:cs typeface="Aptos"/>
                        </a:rPr>
                        <a:t>Largest group</a:t>
                      </a:r>
                    </a:p>
                  </a:txBody>
                  <a:tcPr>
                    <a:solidFill>
                      <a:srgbClr val="172B45"/>
                    </a:solidFill>
                  </a:tcPr>
                </a:tc>
                <a:tc>
                  <a:txBody>
                    <a:bodyPr/>
                    <a:lstStyle/>
                    <a:p>
                      <a:r>
                        <a:rPr sz="2100" b="1">
                          <a:solidFill>
                            <a:srgbClr val="FFFFFF"/>
                          </a:solidFill>
                          <a:latin typeface="Aptos"/>
                          <a:ea typeface="Aptos"/>
                          <a:cs typeface="Aptos"/>
                        </a:rPr>
                        <a:t>Reported scale</a:t>
                      </a:r>
                    </a:p>
                  </a:txBody>
                  <a:tcPr>
                    <a:solidFill>
                      <a:srgbClr val="172B45"/>
                    </a:solidFill>
                  </a:tcPr>
                </a:tc>
                <a:extLst>
                  <a:ext uri="{0D108BD9-81ED-4DB2-BD59-A6C34878D82A}">
                    <a16:rowId xmlns:a16="http://schemas.microsoft.com/office/drawing/2014/main" val="10000"/>
                  </a:ext>
                </a:extLst>
              </a:tr>
              <a:tr h="714375">
                <a:tc>
                  <a:txBody>
                    <a:bodyPr/>
                    <a:lstStyle/>
                    <a:p>
                      <a:r>
                        <a:rPr sz="2100" b="0">
                          <a:solidFill>
                            <a:srgbClr val="172B45"/>
                          </a:solidFill>
                          <a:latin typeface="Aptos"/>
                          <a:ea typeface="Aptos"/>
                          <a:cs typeface="Aptos"/>
                        </a:rPr>
                        <a:t>Experience</a:t>
                      </a:r>
                    </a:p>
                  </a:txBody>
                  <a:tcPr>
                    <a:solidFill>
                      <a:srgbClr val="F0F4F8"/>
                    </a:solidFill>
                  </a:tcPr>
                </a:tc>
                <a:tc>
                  <a:txBody>
                    <a:bodyPr/>
                    <a:lstStyle/>
                    <a:p>
                      <a:r>
                        <a:rPr sz="2100" b="0">
                          <a:solidFill>
                            <a:srgbClr val="172B45"/>
                          </a:solidFill>
                          <a:latin typeface="Aptos"/>
                          <a:ea typeface="Aptos"/>
                          <a:cs typeface="Aptos"/>
                        </a:rPr>
                        <a:t>Mid-level</a:t>
                      </a:r>
                    </a:p>
                  </a:txBody>
                  <a:tcPr>
                    <a:solidFill>
                      <a:srgbClr val="F0F4F8"/>
                    </a:solidFill>
                  </a:tcPr>
                </a:tc>
                <a:tc>
                  <a:txBody>
                    <a:bodyPr/>
                    <a:lstStyle/>
                    <a:p>
                      <a:r>
                        <a:rPr sz="2100" b="0">
                          <a:solidFill>
                            <a:srgbClr val="172B45"/>
                          </a:solidFill>
                          <a:latin typeface="Aptos"/>
                          <a:ea typeface="Aptos"/>
                          <a:cs typeface="Aptos"/>
                        </a:rPr>
                        <a:t>About half the sample</a:t>
                      </a:r>
                    </a:p>
                  </a:txBody>
                  <a:tcPr>
                    <a:solidFill>
                      <a:srgbClr val="F0F4F8"/>
                    </a:solidFill>
                  </a:tcPr>
                </a:tc>
                <a:extLst>
                  <a:ext uri="{0D108BD9-81ED-4DB2-BD59-A6C34878D82A}">
                    <a16:rowId xmlns:a16="http://schemas.microsoft.com/office/drawing/2014/main" val="10001"/>
                  </a:ext>
                </a:extLst>
              </a:tr>
              <a:tr h="714375">
                <a:tc>
                  <a:txBody>
                    <a:bodyPr/>
                    <a:lstStyle/>
                    <a:p>
                      <a:r>
                        <a:rPr sz="2100" b="0">
                          <a:solidFill>
                            <a:srgbClr val="172B45"/>
                          </a:solidFill>
                          <a:latin typeface="Aptos"/>
                          <a:ea typeface="Aptos"/>
                          <a:cs typeface="Aptos"/>
                        </a:rPr>
                        <a:t>Work arrangement</a:t>
                      </a:r>
                    </a:p>
                  </a:txBody>
                  <a:tcPr>
                    <a:solidFill>
                      <a:srgbClr val="FFFFFF"/>
                    </a:solidFill>
                  </a:tcPr>
                </a:tc>
                <a:tc>
                  <a:txBody>
                    <a:bodyPr/>
                    <a:lstStyle/>
                    <a:p>
                      <a:r>
                        <a:rPr sz="2100" b="0">
                          <a:solidFill>
                            <a:srgbClr val="172B45"/>
                          </a:solidFill>
                          <a:latin typeface="Aptos"/>
                          <a:ea typeface="Aptos"/>
                          <a:cs typeface="Aptos"/>
                        </a:rPr>
                        <a:t>Remote</a:t>
                      </a:r>
                    </a:p>
                  </a:txBody>
                  <a:tcPr>
                    <a:solidFill>
                      <a:srgbClr val="FFFFFF"/>
                    </a:solidFill>
                  </a:tcPr>
                </a:tc>
                <a:tc>
                  <a:txBody>
                    <a:bodyPr/>
                    <a:lstStyle/>
                    <a:p>
                      <a:r>
                        <a:rPr sz="2100" b="0">
                          <a:solidFill>
                            <a:srgbClr val="172B45"/>
                          </a:solidFill>
                          <a:latin typeface="Aptos"/>
                          <a:ea typeface="Aptos"/>
                          <a:cs typeface="Aptos"/>
                        </a:rPr>
                        <a:t>About 4,000 postings</a:t>
                      </a:r>
                    </a:p>
                  </a:txBody>
                  <a:tcPr>
                    <a:solidFill>
                      <a:srgbClr val="FFFFFF"/>
                    </a:solidFill>
                  </a:tcPr>
                </a:tc>
                <a:extLst>
                  <a:ext uri="{0D108BD9-81ED-4DB2-BD59-A6C34878D82A}">
                    <a16:rowId xmlns:a16="http://schemas.microsoft.com/office/drawing/2014/main" val="10002"/>
                  </a:ext>
                </a:extLst>
              </a:tr>
              <a:tr h="714375">
                <a:tc>
                  <a:txBody>
                    <a:bodyPr/>
                    <a:lstStyle/>
                    <a:p>
                      <a:r>
                        <a:rPr sz="2100" b="0">
                          <a:solidFill>
                            <a:srgbClr val="172B45"/>
                          </a:solidFill>
                          <a:latin typeface="Aptos"/>
                          <a:ea typeface="Aptos"/>
                          <a:cs typeface="Aptos"/>
                        </a:rPr>
                        <a:t>Employment type</a:t>
                      </a:r>
                    </a:p>
                  </a:txBody>
                  <a:tcPr>
                    <a:solidFill>
                      <a:srgbClr val="F0F4F8"/>
                    </a:solidFill>
                  </a:tcPr>
                </a:tc>
                <a:tc>
                  <a:txBody>
                    <a:bodyPr/>
                    <a:lstStyle/>
                    <a:p>
                      <a:r>
                        <a:rPr sz="2100" b="0">
                          <a:solidFill>
                            <a:srgbClr val="172B45"/>
                          </a:solidFill>
                          <a:latin typeface="Aptos"/>
                          <a:ea typeface="Aptos"/>
                          <a:cs typeface="Aptos"/>
                        </a:rPr>
                        <a:t>Full-time</a:t>
                      </a:r>
                    </a:p>
                  </a:txBody>
                  <a:tcPr>
                    <a:solidFill>
                      <a:srgbClr val="F0F4F8"/>
                    </a:solidFill>
                  </a:tcPr>
                </a:tc>
                <a:tc>
                  <a:txBody>
                    <a:bodyPr/>
                    <a:lstStyle/>
                    <a:p>
                      <a:r>
                        <a:rPr sz="2100" b="0">
                          <a:solidFill>
                            <a:srgbClr val="172B45"/>
                          </a:solidFill>
                          <a:latin typeface="Aptos"/>
                          <a:ea typeface="Aptos"/>
                          <a:cs typeface="Aptos"/>
                        </a:rPr>
                        <a:t>About 7,500 postings</a:t>
                      </a:r>
                    </a:p>
                  </a:txBody>
                  <a:tcPr>
                    <a:solidFill>
                      <a:srgbClr val="F0F4F8"/>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ABFAE8E7-BA2C-4162-982F-8913071CCA5A}"/>
              </a:ext>
            </a:extLst>
          </p:cNvPr>
          <p:cNvSpPr>
            <a:spLocks noGrp="1"/>
          </p:cNvSpPr>
          <p:nvPr/>
        </p:nvSpPr>
        <p:spPr>
          <a:xfrm>
            <a:off x="762000" y="4810125"/>
            <a:ext cx="10572750" cy="714375"/>
          </a:xfrm>
          <a:prstGeom prst="rect">
            <a:avLst/>
          </a:prstGeom>
          <a:noFill/>
          <a:ln w="0">
            <a:noFill/>
          </a:ln>
        </p:spPr>
        <p:txBody>
          <a:bodyPr>
            <a:noAutofit/>
          </a:bodyPr>
          <a:lstStyle/>
          <a:p>
            <a:pPr>
              <a:defRPr sz="2175" b="0">
                <a:solidFill>
                  <a:srgbClr val="172B45"/>
                </a:solidFill>
                <a:latin typeface="Aptos"/>
                <a:ea typeface="Aptos"/>
                <a:cs typeface="Aptos"/>
              </a:defRPr>
            </a:pPr>
            <a:r>
              <a:rPr sz="2175" b="0">
                <a:solidFill>
                  <a:srgbClr val="172B45"/>
                </a:solidFill>
                <a:latin typeface="Aptos"/>
                <a:ea typeface="Aptos"/>
                <a:cs typeface="Aptos"/>
              </a:rPr>
              <a:t>These patterns provide context for talent planning and recruiting discussions.</a:t>
            </a:r>
          </a:p>
        </p:txBody>
      </p:sp>
      <p:sp>
        <p:nvSpPr>
          <p:cNvPr id="5" name="Rectangle 4">
            <a:extLst>
              <a:ext uri="{FF2B5EF4-FFF2-40B4-BE49-F238E27FC236}">
                <a16:creationId xmlns:a16="http://schemas.microsoft.com/office/drawing/2014/main" id="{F359564E-7E7F-488B-97A2-3235B969CDEA}"/>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Counts are approximate. Validate against the relevant geography and talent pool before setting policy.</a:t>
            </a:r>
          </a:p>
        </p:txBody>
      </p:sp>
    </p:spTree>
    <p:extLst>
      <p:ext uri="{BB962C8B-B14F-4D97-AF65-F5344CB8AC3E}">
        <p14:creationId xmlns:p14="http://schemas.microsoft.com/office/powerpoint/2010/main" val="43183721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CA74D15-2201-4048-84BD-387AD5C52359}"/>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Applicant counts offer limited differentiation</a:t>
            </a:r>
          </a:p>
        </p:txBody>
      </p:sp>
      <p:sp>
        <p:nvSpPr>
          <p:cNvPr id="2" name="Rectangle 1">
            <a:extLst>
              <a:ext uri="{FF2B5EF4-FFF2-40B4-BE49-F238E27FC236}">
                <a16:creationId xmlns:a16="http://schemas.microsoft.com/office/drawing/2014/main" id="{CF57E2E6-5B54-4A84-9521-F7825E8A4988}"/>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7</a:t>
            </a:r>
          </a:p>
        </p:txBody>
      </p:sp>
      <p:sp>
        <p:nvSpPr>
          <p:cNvPr id="3" name="Rectangle 2">
            <a:extLst>
              <a:ext uri="{FF2B5EF4-FFF2-40B4-BE49-F238E27FC236}">
                <a16:creationId xmlns:a16="http://schemas.microsoft.com/office/drawing/2014/main" id="{49E992DB-EB21-4E12-BBDC-D1C65799FA43}"/>
              </a:ext>
            </a:extLst>
          </p:cNvPr>
          <p:cNvSpPr>
            <a:spLocks noGrp="1"/>
          </p:cNvSpPr>
          <p:nvPr/>
        </p:nvSpPr>
        <p:spPr>
          <a:xfrm>
            <a:off x="762000" y="1666875"/>
            <a:ext cx="5715000" cy="1047750"/>
          </a:xfrm>
          <a:prstGeom prst="rect">
            <a:avLst/>
          </a:prstGeom>
          <a:noFill/>
          <a:ln w="0">
            <a:noFill/>
          </a:ln>
        </p:spPr>
        <p:txBody>
          <a:bodyPr>
            <a:noAutofit/>
          </a:bodyPr>
          <a:lstStyle/>
          <a:p>
            <a:pPr>
              <a:defRPr sz="5850" b="1">
                <a:solidFill>
                  <a:srgbClr val="275F96"/>
                </a:solidFill>
                <a:latin typeface="Aptos"/>
                <a:ea typeface="Aptos"/>
                <a:cs typeface="Aptos"/>
              </a:defRPr>
            </a:pPr>
            <a:r>
              <a:rPr sz="5850" b="1">
                <a:solidFill>
                  <a:srgbClr val="275F96"/>
                </a:solidFill>
                <a:latin typeface="Aptos"/>
                <a:ea typeface="Aptos"/>
                <a:cs typeface="Aptos"/>
              </a:rPr>
              <a:t>212–238</a:t>
            </a:r>
          </a:p>
        </p:txBody>
      </p:sp>
      <p:sp>
        <p:nvSpPr>
          <p:cNvPr id="4" name="Rectangle 3">
            <a:extLst>
              <a:ext uri="{FF2B5EF4-FFF2-40B4-BE49-F238E27FC236}">
                <a16:creationId xmlns:a16="http://schemas.microsoft.com/office/drawing/2014/main" id="{AED1595D-549B-4D69-B460-9C63E96CB883}"/>
              </a:ext>
            </a:extLst>
          </p:cNvPr>
          <p:cNvSpPr>
            <a:spLocks noGrp="1"/>
          </p:cNvSpPr>
          <p:nvPr/>
        </p:nvSpPr>
        <p:spPr>
          <a:xfrm>
            <a:off x="762000" y="2857500"/>
            <a:ext cx="10001250" cy="619125"/>
          </a:xfrm>
          <a:prstGeom prst="rect">
            <a:avLst/>
          </a:prstGeom>
          <a:noFill/>
          <a:ln w="0">
            <a:noFill/>
          </a:ln>
        </p:spPr>
        <p:txBody>
          <a:bodyPr>
            <a:noAutofit/>
          </a:bodyPr>
          <a:lstStyle/>
          <a:p>
            <a:pPr>
              <a:defRPr sz="2250" b="0">
                <a:solidFill>
                  <a:srgbClr val="172B45"/>
                </a:solidFill>
                <a:latin typeface="Aptos"/>
                <a:ea typeface="Aptos"/>
                <a:cs typeface="Aptos"/>
              </a:defRPr>
            </a:pPr>
            <a:r>
              <a:rPr sz="2250" b="0">
                <a:solidFill>
                  <a:srgbClr val="172B45"/>
                </a:solidFill>
                <a:latin typeface="Aptos"/>
                <a:ea typeface="Aptos"/>
                <a:cs typeface="Aptos"/>
              </a:rPr>
              <a:t>Median applicants by specialization</a:t>
            </a:r>
          </a:p>
        </p:txBody>
      </p:sp>
      <p:sp>
        <p:nvSpPr>
          <p:cNvPr id="5" name="Rectangle 4">
            <a:extLst>
              <a:ext uri="{FF2B5EF4-FFF2-40B4-BE49-F238E27FC236}">
                <a16:creationId xmlns:a16="http://schemas.microsoft.com/office/drawing/2014/main" id="{18CE96BE-AE77-4E6E-82D0-EBD738B945D3}"/>
              </a:ext>
            </a:extLst>
          </p:cNvPr>
          <p:cNvSpPr>
            <a:spLocks noGrp="1"/>
          </p:cNvSpPr>
          <p:nvPr/>
        </p:nvSpPr>
        <p:spPr>
          <a:xfrm>
            <a:off x="762000" y="3857625"/>
            <a:ext cx="10477500" cy="952500"/>
          </a:xfrm>
          <a:prstGeom prst="rect">
            <a:avLst/>
          </a:prstGeom>
          <a:noFill/>
          <a:ln w="0">
            <a:noFill/>
          </a:ln>
        </p:spPr>
        <p:txBody>
          <a:bodyPr>
            <a:noAutofit/>
          </a:bodyPr>
          <a:lstStyle/>
          <a:p>
            <a:pPr>
              <a:defRPr sz="2250" b="0">
                <a:solidFill>
                  <a:srgbClr val="172B45"/>
                </a:solidFill>
                <a:latin typeface="Aptos"/>
                <a:ea typeface="Aptos"/>
                <a:cs typeface="Aptos"/>
              </a:defRPr>
            </a:pPr>
            <a:r>
              <a:rPr sz="2250" b="0">
                <a:solidFill>
                  <a:srgbClr val="172B45"/>
                </a:solidFill>
                <a:latin typeface="Aptos"/>
                <a:ea typeface="Aptos"/>
                <a:cs typeface="Aptos"/>
              </a:rPr>
              <a:t>Variation within groups was much larger than differences between their typical applicant counts.</a:t>
            </a:r>
          </a:p>
        </p:txBody>
      </p:sp>
      <p:sp>
        <p:nvSpPr>
          <p:cNvPr id="6" name="Rectangle 5">
            <a:extLst>
              <a:ext uri="{FF2B5EF4-FFF2-40B4-BE49-F238E27FC236}">
                <a16:creationId xmlns:a16="http://schemas.microsoft.com/office/drawing/2014/main" id="{30889914-CDBE-4219-B4A4-A3642009450F}"/>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The analysis does not establish hiring difficulty, candidate quality, or the causes of applicant volume.</a:t>
            </a:r>
          </a:p>
        </p:txBody>
      </p:sp>
    </p:spTree>
    <p:extLst>
      <p:ext uri="{BB962C8B-B14F-4D97-AF65-F5344CB8AC3E}">
        <p14:creationId xmlns:p14="http://schemas.microsoft.com/office/powerpoint/2010/main" val="191237790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 name="Rectangle 7">
            <a:extLst>
              <a:ext uri="{FF2B5EF4-FFF2-40B4-BE49-F238E27FC236}">
                <a16:creationId xmlns:a16="http://schemas.microsoft.com/office/drawing/2014/main" id="{FCC1D0E6-E1E1-432C-97A5-49283F27E5DC}"/>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Experience carries most of the current salary signal</a:t>
            </a:r>
          </a:p>
        </p:txBody>
      </p:sp>
      <p:sp>
        <p:nvSpPr>
          <p:cNvPr id="2" name="Rectangle 1">
            <a:extLst>
              <a:ext uri="{FF2B5EF4-FFF2-40B4-BE49-F238E27FC236}">
                <a16:creationId xmlns:a16="http://schemas.microsoft.com/office/drawing/2014/main" id="{D1ADB659-AE9C-4DB1-BEE5-FC6C24835C86}"/>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8</a:t>
            </a:r>
          </a:p>
        </p:txBody>
      </p:sp>
      <p:sp>
        <p:nvSpPr>
          <p:cNvPr id="3" name="Rectangle 2">
            <a:extLst>
              <a:ext uri="{FF2B5EF4-FFF2-40B4-BE49-F238E27FC236}">
                <a16:creationId xmlns:a16="http://schemas.microsoft.com/office/drawing/2014/main" id="{D158BD30-268D-4DC7-9546-E914096DB01F}"/>
              </a:ext>
            </a:extLst>
          </p:cNvPr>
          <p:cNvSpPr>
            <a:spLocks noGrp="1"/>
          </p:cNvSpPr>
          <p:nvPr/>
        </p:nvSpPr>
        <p:spPr>
          <a:xfrm>
            <a:off x="762000" y="1619250"/>
            <a:ext cx="5238750" cy="1238250"/>
          </a:xfrm>
          <a:prstGeom prst="rect">
            <a:avLst/>
          </a:prstGeom>
          <a:noFill/>
          <a:ln w="0">
            <a:noFill/>
          </a:ln>
        </p:spPr>
        <p:txBody>
          <a:bodyPr>
            <a:noAutofit/>
          </a:bodyPr>
          <a:lstStyle/>
          <a:p>
            <a:pPr>
              <a:defRPr sz="7200" b="1">
                <a:solidFill>
                  <a:srgbClr val="275F96"/>
                </a:solidFill>
                <a:latin typeface="Aptos"/>
                <a:ea typeface="Aptos"/>
                <a:cs typeface="Aptos"/>
              </a:defRPr>
            </a:pPr>
            <a:r>
              <a:rPr sz="7200" b="1">
                <a:solidFill>
                  <a:srgbClr val="275F96"/>
                </a:solidFill>
                <a:latin typeface="Aptos"/>
                <a:ea typeface="Aptos"/>
                <a:cs typeface="Aptos"/>
              </a:rPr>
              <a:t>96.8%</a:t>
            </a:r>
          </a:p>
        </p:txBody>
      </p:sp>
      <p:sp>
        <p:nvSpPr>
          <p:cNvPr id="4" name="Rectangle 3">
            <a:extLst>
              <a:ext uri="{FF2B5EF4-FFF2-40B4-BE49-F238E27FC236}">
                <a16:creationId xmlns:a16="http://schemas.microsoft.com/office/drawing/2014/main" id="{2CEC0ECA-CDE7-429C-BF38-6FFBDD61FF65}"/>
              </a:ext>
            </a:extLst>
          </p:cNvPr>
          <p:cNvSpPr>
            <a:spLocks noGrp="1"/>
          </p:cNvSpPr>
          <p:nvPr/>
        </p:nvSpPr>
        <p:spPr>
          <a:xfrm>
            <a:off x="762000" y="3143250"/>
            <a:ext cx="5238750" cy="1238250"/>
          </a:xfrm>
          <a:prstGeom prst="rect">
            <a:avLst/>
          </a:prstGeom>
          <a:noFill/>
          <a:ln w="0">
            <a:noFill/>
          </a:ln>
        </p:spPr>
        <p:txBody>
          <a:bodyPr>
            <a:noAutofit/>
          </a:bodyPr>
          <a:lstStyle/>
          <a:p>
            <a:pPr>
              <a:defRPr sz="2175" b="0">
                <a:solidFill>
                  <a:srgbClr val="172B45"/>
                </a:solidFill>
                <a:latin typeface="Aptos"/>
                <a:ea typeface="Aptos"/>
                <a:cs typeface="Aptos"/>
              </a:defRPr>
            </a:pPr>
            <a:r>
              <a:rPr sz="2175" b="0">
                <a:solidFill>
                  <a:srgbClr val="172B45"/>
                </a:solidFill>
                <a:latin typeface="Aptos"/>
                <a:ea typeface="Aptos"/>
                <a:cs typeface="Aptos"/>
              </a:rPr>
              <a:t>Random Forest importance attributed to experience-related features</a:t>
            </a:r>
          </a:p>
        </p:txBody>
      </p:sp>
      <p:sp>
        <p:nvSpPr>
          <p:cNvPr id="5" name="Rectangle 4">
            <a:extLst>
              <a:ext uri="{FF2B5EF4-FFF2-40B4-BE49-F238E27FC236}">
                <a16:creationId xmlns:a16="http://schemas.microsoft.com/office/drawing/2014/main" id="{14300B84-DDDA-40E8-A6DA-2090544FE161}"/>
              </a:ext>
            </a:extLst>
          </p:cNvPr>
          <p:cNvSpPr>
            <a:spLocks noGrp="1"/>
          </p:cNvSpPr>
          <p:nvPr/>
        </p:nvSpPr>
        <p:spPr>
          <a:xfrm>
            <a:off x="6858000" y="1666875"/>
            <a:ext cx="4476750" cy="571500"/>
          </a:xfrm>
          <a:prstGeom prst="rect">
            <a:avLst/>
          </a:prstGeom>
          <a:noFill/>
          <a:ln w="0">
            <a:noFill/>
          </a:ln>
        </p:spPr>
        <p:txBody>
          <a:bodyPr>
            <a:noAutofit/>
          </a:bodyPr>
          <a:lstStyle/>
          <a:p>
            <a:pPr>
              <a:defRPr sz="2400" b="1">
                <a:solidFill>
                  <a:srgbClr val="172B45"/>
                </a:solidFill>
                <a:latin typeface="Aptos"/>
                <a:ea typeface="Aptos"/>
                <a:cs typeface="Aptos"/>
              </a:defRPr>
            </a:pPr>
            <a:r>
              <a:rPr sz="2400" b="1">
                <a:solidFill>
                  <a:srgbClr val="172B45"/>
                </a:solidFill>
                <a:latin typeface="Aptos"/>
                <a:ea typeface="Aptos"/>
                <a:cs typeface="Aptos"/>
              </a:rPr>
              <a:t>Business implication</a:t>
            </a:r>
          </a:p>
        </p:txBody>
      </p:sp>
      <p:sp>
        <p:nvSpPr>
          <p:cNvPr id="6" name="Rectangle 5">
            <a:extLst>
              <a:ext uri="{FF2B5EF4-FFF2-40B4-BE49-F238E27FC236}">
                <a16:creationId xmlns:a16="http://schemas.microsoft.com/office/drawing/2014/main" id="{D1F25515-80E7-4958-B613-EB2C2CF3277D}"/>
              </a:ext>
            </a:extLst>
          </p:cNvPr>
          <p:cNvSpPr>
            <a:spLocks noGrp="1"/>
          </p:cNvSpPr>
          <p:nvPr/>
        </p:nvSpPr>
        <p:spPr>
          <a:xfrm>
            <a:off x="6858000" y="2428875"/>
            <a:ext cx="4476750" cy="1476375"/>
          </a:xfrm>
          <a:prstGeom prst="rect">
            <a:avLst/>
          </a:prstGeom>
          <a:noFill/>
          <a:ln w="0">
            <a:noFill/>
          </a:ln>
        </p:spPr>
        <p:txBody>
          <a:bodyPr>
            <a:noAutofit/>
          </a:bodyPr>
          <a:lstStyle/>
          <a:p>
            <a:pPr>
              <a:defRPr sz="2250" b="0">
                <a:solidFill>
                  <a:srgbClr val="172B45"/>
                </a:solidFill>
                <a:latin typeface="Aptos"/>
                <a:ea typeface="Aptos"/>
                <a:cs typeface="Aptos"/>
              </a:defRPr>
            </a:pPr>
            <a:r>
              <a:rPr sz="2250" b="0">
                <a:solidFill>
                  <a:srgbClr val="172B45"/>
                </a:solidFill>
                <a:latin typeface="Aptos"/>
                <a:ea typeface="Aptos"/>
                <a:cs typeface="Aptos"/>
              </a:rPr>
              <a:t>Consistent seniority and experience definitions deserve attention in role design.</a:t>
            </a:r>
          </a:p>
        </p:txBody>
      </p:sp>
      <p:sp>
        <p:nvSpPr>
          <p:cNvPr id="7" name="Rectangle 6">
            <a:extLst>
              <a:ext uri="{FF2B5EF4-FFF2-40B4-BE49-F238E27FC236}">
                <a16:creationId xmlns:a16="http://schemas.microsoft.com/office/drawing/2014/main" id="{0C70719A-E441-48A8-87C0-DB7454467B02}"/>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Provisional model finding. Feature importance describes model behavior and does not establish causation.</a:t>
            </a:r>
          </a:p>
        </p:txBody>
      </p:sp>
    </p:spTree>
    <p:extLst>
      <p:ext uri="{BB962C8B-B14F-4D97-AF65-F5344CB8AC3E}">
        <p14:creationId xmlns:p14="http://schemas.microsoft.com/office/powerpoint/2010/main" val="146458098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E8D149C5-204A-4CD8-A9C2-23FC31067220}"/>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The salary model is an initial analytical result</a:t>
            </a:r>
          </a:p>
        </p:txBody>
      </p:sp>
      <p:sp>
        <p:nvSpPr>
          <p:cNvPr id="2" name="Rectangle 1">
            <a:extLst>
              <a:ext uri="{FF2B5EF4-FFF2-40B4-BE49-F238E27FC236}">
                <a16:creationId xmlns:a16="http://schemas.microsoft.com/office/drawing/2014/main" id="{8B97B610-FCB9-41BA-BE1D-4E490BE13433}"/>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9</a:t>
            </a:r>
          </a:p>
        </p:txBody>
      </p:sp>
      <p:graphicFrame>
        <p:nvGraphicFramePr>
          <p:cNvPr id="8" name="Table 7"/>
          <p:cNvGraphicFramePr/>
          <p:nvPr/>
        </p:nvGraphicFramePr>
        <p:xfrm>
          <a:off x="762000" y="1571625"/>
          <a:ext cx="10668000" cy="2286000"/>
        </p:xfrm>
        <a:graphic>
          <a:graphicData uri="http://schemas.openxmlformats.org/drawingml/2006/table">
            <a:tbl>
              <a:tblPr/>
              <a:tblGrid>
                <a:gridCol w="6096000">
                  <a:extLst>
                    <a:ext uri="{9D8B030D-6E8A-4147-A177-3AD203B41FA5}">
                      <a16:colId xmlns:a16="http://schemas.microsoft.com/office/drawing/2014/main" val="20000"/>
                    </a:ext>
                  </a:extLst>
                </a:gridCol>
                <a:gridCol w="4572000">
                  <a:extLst>
                    <a:ext uri="{9D8B030D-6E8A-4147-A177-3AD203B41FA5}">
                      <a16:colId xmlns:a16="http://schemas.microsoft.com/office/drawing/2014/main" val="20001"/>
                    </a:ext>
                  </a:extLst>
                </a:gridCol>
              </a:tblGrid>
              <a:tr h="762000">
                <a:tc>
                  <a:txBody>
                    <a:bodyPr/>
                    <a:lstStyle/>
                    <a:p>
                      <a:r>
                        <a:rPr sz="2175" b="1">
                          <a:solidFill>
                            <a:srgbClr val="FFFFFF"/>
                          </a:solidFill>
                          <a:latin typeface="Aptos"/>
                          <a:ea typeface="Aptos"/>
                          <a:cs typeface="Aptos"/>
                        </a:rPr>
                        <a:t>Model</a:t>
                      </a:r>
                    </a:p>
                  </a:txBody>
                  <a:tcPr>
                    <a:solidFill>
                      <a:srgbClr val="172B45"/>
                    </a:solidFill>
                  </a:tcPr>
                </a:tc>
                <a:tc>
                  <a:txBody>
                    <a:bodyPr/>
                    <a:lstStyle/>
                    <a:p>
                      <a:r>
                        <a:rPr sz="2175" b="1">
                          <a:solidFill>
                            <a:srgbClr val="FFFFFF"/>
                          </a:solidFill>
                          <a:latin typeface="Aptos"/>
                          <a:ea typeface="Aptos"/>
                          <a:cs typeface="Aptos"/>
                        </a:rPr>
                        <a:t>Average absolute test error</a:t>
                      </a:r>
                    </a:p>
                  </a:txBody>
                  <a:tcPr>
                    <a:solidFill>
                      <a:srgbClr val="172B45"/>
                    </a:solidFill>
                  </a:tcPr>
                </a:tc>
                <a:extLst>
                  <a:ext uri="{0D108BD9-81ED-4DB2-BD59-A6C34878D82A}">
                    <a16:rowId xmlns:a16="http://schemas.microsoft.com/office/drawing/2014/main" val="10000"/>
                  </a:ext>
                </a:extLst>
              </a:tr>
              <a:tr h="762000">
                <a:tc>
                  <a:txBody>
                    <a:bodyPr/>
                    <a:lstStyle/>
                    <a:p>
                      <a:r>
                        <a:rPr sz="2175" b="0">
                          <a:solidFill>
                            <a:srgbClr val="172B45"/>
                          </a:solidFill>
                          <a:latin typeface="Aptos"/>
                          <a:ea typeface="Aptos"/>
                          <a:cs typeface="Aptos"/>
                        </a:rPr>
                        <a:t>Linear Regression</a:t>
                      </a:r>
                    </a:p>
                  </a:txBody>
                  <a:tcPr>
                    <a:solidFill>
                      <a:srgbClr val="F0F4F8"/>
                    </a:solidFill>
                  </a:tcPr>
                </a:tc>
                <a:tc>
                  <a:txBody>
                    <a:bodyPr/>
                    <a:lstStyle/>
                    <a:p>
                      <a:r>
                        <a:rPr sz="2175" b="0">
                          <a:solidFill>
                            <a:srgbClr val="172B45"/>
                          </a:solidFill>
                          <a:latin typeface="Aptos"/>
                          <a:ea typeface="Aptos"/>
                          <a:cs typeface="Aptos"/>
                        </a:rPr>
                        <a:t>$9,478.15</a:t>
                      </a:r>
                    </a:p>
                  </a:txBody>
                  <a:tcPr>
                    <a:solidFill>
                      <a:srgbClr val="F0F4F8"/>
                    </a:solidFill>
                  </a:tcPr>
                </a:tc>
                <a:extLst>
                  <a:ext uri="{0D108BD9-81ED-4DB2-BD59-A6C34878D82A}">
                    <a16:rowId xmlns:a16="http://schemas.microsoft.com/office/drawing/2014/main" val="10001"/>
                  </a:ext>
                </a:extLst>
              </a:tr>
              <a:tr h="762000">
                <a:tc>
                  <a:txBody>
                    <a:bodyPr/>
                    <a:lstStyle/>
                    <a:p>
                      <a:r>
                        <a:rPr sz="2175" b="0">
                          <a:solidFill>
                            <a:srgbClr val="172B45"/>
                          </a:solidFill>
                          <a:latin typeface="Aptos"/>
                          <a:ea typeface="Aptos"/>
                          <a:cs typeface="Aptos"/>
                        </a:rPr>
                        <a:t>Random Forest</a:t>
                      </a:r>
                    </a:p>
                  </a:txBody>
                  <a:tcPr>
                    <a:solidFill>
                      <a:srgbClr val="FFFFFF"/>
                    </a:solidFill>
                  </a:tcPr>
                </a:tc>
                <a:tc>
                  <a:txBody>
                    <a:bodyPr/>
                    <a:lstStyle/>
                    <a:p>
                      <a:r>
                        <a:rPr sz="2175" b="0">
                          <a:solidFill>
                            <a:srgbClr val="172B45"/>
                          </a:solidFill>
                          <a:latin typeface="Aptos"/>
                          <a:ea typeface="Aptos"/>
                          <a:cs typeface="Aptos"/>
                        </a:rPr>
                        <a:t>$9,250.28</a:t>
                      </a:r>
                    </a:p>
                  </a:txBody>
                  <a:tcPr>
                    <a:solidFill>
                      <a:srgbClr val="FFFFFF"/>
                    </a:solidFill>
                  </a:tcPr>
                </a:tc>
                <a:extLst>
                  <a:ext uri="{0D108BD9-81ED-4DB2-BD59-A6C34878D82A}">
                    <a16:rowId xmlns:a16="http://schemas.microsoft.com/office/drawing/2014/main" val="10002"/>
                  </a:ext>
                </a:extLst>
              </a:tr>
            </a:tbl>
          </a:graphicData>
        </a:graphic>
      </p:graphicFrame>
      <p:sp>
        <p:nvSpPr>
          <p:cNvPr id="4" name="Rectangle 3">
            <a:extLst>
              <a:ext uri="{FF2B5EF4-FFF2-40B4-BE49-F238E27FC236}">
                <a16:creationId xmlns:a16="http://schemas.microsoft.com/office/drawing/2014/main" id="{AC2C4E7E-D368-49E9-8E4E-1A9E022FE808}"/>
              </a:ext>
            </a:extLst>
          </p:cNvPr>
          <p:cNvSpPr>
            <a:spLocks noGrp="1"/>
          </p:cNvSpPr>
          <p:nvPr/>
        </p:nvSpPr>
        <p:spPr>
          <a:xfrm>
            <a:off x="762000" y="4238625"/>
            <a:ext cx="10572750" cy="952500"/>
          </a:xfrm>
          <a:prstGeom prst="rect">
            <a:avLst/>
          </a:prstGeom>
          <a:noFill/>
          <a:ln w="0">
            <a:noFill/>
          </a:ln>
        </p:spPr>
        <p:txBody>
          <a:bodyPr>
            <a:noAutofit/>
          </a:bodyPr>
          <a:lstStyle/>
          <a:p>
            <a:pPr>
              <a:defRPr sz="2250" b="0">
                <a:solidFill>
                  <a:srgbClr val="172B45"/>
                </a:solidFill>
                <a:latin typeface="Aptos"/>
                <a:ea typeface="Aptos"/>
                <a:cs typeface="Aptos"/>
              </a:defRPr>
            </a:pPr>
            <a:r>
              <a:rPr sz="2250" b="0">
                <a:solidFill>
                  <a:srgbClr val="172B45"/>
                </a:solidFill>
                <a:latin typeface="Aptos"/>
                <a:ea typeface="Aptos"/>
                <a:cs typeface="Aptos"/>
              </a:rPr>
              <a:t>Random Forest improved error by about 2.4%. This modest gain does not establish readiness for business use.</a:t>
            </a:r>
          </a:p>
        </p:txBody>
      </p:sp>
      <p:sp>
        <p:nvSpPr>
          <p:cNvPr id="5" name="Rectangle 4">
            <a:extLst>
              <a:ext uri="{FF2B5EF4-FFF2-40B4-BE49-F238E27FC236}">
                <a16:creationId xmlns:a16="http://schemas.microsoft.com/office/drawing/2014/main" id="{050AA144-D25B-40C5-BC43-DE44C19AAB72}"/>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PROVISIONAL: Errors use the currently processed salary-range midpoints. Currency and geography need correction.</a:t>
            </a:r>
          </a:p>
        </p:txBody>
      </p:sp>
    </p:spTree>
    <p:extLst>
      <p:ext uri="{BB962C8B-B14F-4D97-AF65-F5344CB8AC3E}">
        <p14:creationId xmlns:p14="http://schemas.microsoft.com/office/powerpoint/2010/main" val="211361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2900CDDD-CD7E-47D1-90B5-5DCEB0A7B952}"/>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Business use requires corrected salary data</a:t>
            </a:r>
          </a:p>
        </p:txBody>
      </p:sp>
      <p:sp>
        <p:nvSpPr>
          <p:cNvPr id="2" name="Rectangle 1">
            <a:extLst>
              <a:ext uri="{FF2B5EF4-FFF2-40B4-BE49-F238E27FC236}">
                <a16:creationId xmlns:a16="http://schemas.microsoft.com/office/drawing/2014/main" id="{10A2797E-F996-4996-9FA2-CC3052820D73}"/>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10</a:t>
            </a:r>
          </a:p>
        </p:txBody>
      </p:sp>
      <p:graphicFrame>
        <p:nvGraphicFramePr>
          <p:cNvPr id="7" name="Table 6"/>
          <p:cNvGraphicFramePr/>
          <p:nvPr/>
        </p:nvGraphicFramePr>
        <p:xfrm>
          <a:off x="762000" y="1524000"/>
          <a:ext cx="10668000" cy="3143252"/>
        </p:xfrm>
        <a:graphic>
          <a:graphicData uri="http://schemas.openxmlformats.org/drawingml/2006/table">
            <a:tbl>
              <a:tblPr/>
              <a:tblGrid>
                <a:gridCol w="5334000">
                  <a:extLst>
                    <a:ext uri="{9D8B030D-6E8A-4147-A177-3AD203B41FA5}">
                      <a16:colId xmlns:a16="http://schemas.microsoft.com/office/drawing/2014/main" val="20000"/>
                    </a:ext>
                  </a:extLst>
                </a:gridCol>
                <a:gridCol w="5334000">
                  <a:extLst>
                    <a:ext uri="{9D8B030D-6E8A-4147-A177-3AD203B41FA5}">
                      <a16:colId xmlns:a16="http://schemas.microsoft.com/office/drawing/2014/main" val="20001"/>
                    </a:ext>
                  </a:extLst>
                </a:gridCol>
              </a:tblGrid>
              <a:tr h="785813">
                <a:tc>
                  <a:txBody>
                    <a:bodyPr/>
                    <a:lstStyle/>
                    <a:p>
                      <a:r>
                        <a:rPr sz="2025" b="1">
                          <a:solidFill>
                            <a:srgbClr val="FFFFFF"/>
                          </a:solidFill>
                          <a:latin typeface="Aptos"/>
                          <a:ea typeface="Aptos"/>
                          <a:cs typeface="Aptos"/>
                        </a:rPr>
                        <a:t>Useful now</a:t>
                      </a:r>
                    </a:p>
                  </a:txBody>
                  <a:tcPr>
                    <a:solidFill>
                      <a:srgbClr val="172B45"/>
                    </a:solidFill>
                  </a:tcPr>
                </a:tc>
                <a:tc>
                  <a:txBody>
                    <a:bodyPr/>
                    <a:lstStyle/>
                    <a:p>
                      <a:r>
                        <a:rPr sz="2025" b="1">
                          <a:solidFill>
                            <a:srgbClr val="FFFFFF"/>
                          </a:solidFill>
                          <a:latin typeface="Aptos"/>
                          <a:ea typeface="Aptos"/>
                          <a:cs typeface="Aptos"/>
                        </a:rPr>
                        <a:t>Requires further validation</a:t>
                      </a:r>
                    </a:p>
                  </a:txBody>
                  <a:tcPr>
                    <a:solidFill>
                      <a:srgbClr val="172B45"/>
                    </a:solidFill>
                  </a:tcPr>
                </a:tc>
                <a:extLst>
                  <a:ext uri="{0D108BD9-81ED-4DB2-BD59-A6C34878D82A}">
                    <a16:rowId xmlns:a16="http://schemas.microsoft.com/office/drawing/2014/main" val="10000"/>
                  </a:ext>
                </a:extLst>
              </a:tr>
              <a:tr h="785813">
                <a:tc>
                  <a:txBody>
                    <a:bodyPr/>
                    <a:lstStyle/>
                    <a:p>
                      <a:r>
                        <a:rPr sz="2025" b="0">
                          <a:solidFill>
                            <a:srgbClr val="172B45"/>
                          </a:solidFill>
                          <a:latin typeface="Aptos"/>
                          <a:ea typeface="Aptos"/>
                          <a:cs typeface="Aptos"/>
                        </a:rPr>
                        <a:t>Role-specific skill profiles</a:t>
                      </a:r>
                    </a:p>
                  </a:txBody>
                  <a:tcPr>
                    <a:solidFill>
                      <a:srgbClr val="F0F4F8"/>
                    </a:solidFill>
                  </a:tcPr>
                </a:tc>
                <a:tc>
                  <a:txBody>
                    <a:bodyPr/>
                    <a:lstStyle/>
                    <a:p>
                      <a:r>
                        <a:rPr sz="2025" b="0">
                          <a:solidFill>
                            <a:srgbClr val="172B45"/>
                          </a:solidFill>
                          <a:latin typeface="Aptos"/>
                          <a:ea typeface="Aptos"/>
                          <a:cs typeface="Aptos"/>
                        </a:rPr>
                        <a:t>Compensation benchmarks and salary forecasts</a:t>
                      </a:r>
                    </a:p>
                  </a:txBody>
                  <a:tcPr>
                    <a:solidFill>
                      <a:srgbClr val="F0F4F8"/>
                    </a:solidFill>
                  </a:tcPr>
                </a:tc>
                <a:extLst>
                  <a:ext uri="{0D108BD9-81ED-4DB2-BD59-A6C34878D82A}">
                    <a16:rowId xmlns:a16="http://schemas.microsoft.com/office/drawing/2014/main" val="10001"/>
                  </a:ext>
                </a:extLst>
              </a:tr>
              <a:tr h="785813">
                <a:tc>
                  <a:txBody>
                    <a:bodyPr/>
                    <a:lstStyle/>
                    <a:p>
                      <a:r>
                        <a:rPr sz="2025" b="0">
                          <a:solidFill>
                            <a:srgbClr val="172B45"/>
                          </a:solidFill>
                          <a:latin typeface="Aptos"/>
                          <a:ea typeface="Aptos"/>
                          <a:cs typeface="Aptos"/>
                        </a:rPr>
                        <a:t>Discussion of experience expectations</a:t>
                      </a:r>
                    </a:p>
                  </a:txBody>
                  <a:tcPr>
                    <a:solidFill>
                      <a:srgbClr val="FFFFFF"/>
                    </a:solidFill>
                  </a:tcPr>
                </a:tc>
                <a:tc>
                  <a:txBody>
                    <a:bodyPr/>
                    <a:lstStyle/>
                    <a:p>
                      <a:r>
                        <a:rPr sz="2025" b="0">
                          <a:solidFill>
                            <a:srgbClr val="172B45"/>
                          </a:solidFill>
                          <a:latin typeface="Aptos"/>
                          <a:ea typeface="Aptos"/>
                          <a:cs typeface="Aptos"/>
                        </a:rPr>
                        <a:t>Market-wide demand or hiring difficulty estimates</a:t>
                      </a:r>
                    </a:p>
                  </a:txBody>
                  <a:tcPr>
                    <a:solidFill>
                      <a:srgbClr val="FFFFFF"/>
                    </a:solidFill>
                  </a:tcPr>
                </a:tc>
                <a:extLst>
                  <a:ext uri="{0D108BD9-81ED-4DB2-BD59-A6C34878D82A}">
                    <a16:rowId xmlns:a16="http://schemas.microsoft.com/office/drawing/2014/main" val="10002"/>
                  </a:ext>
                </a:extLst>
              </a:tr>
              <a:tr h="785813">
                <a:tc>
                  <a:txBody>
                    <a:bodyPr/>
                    <a:lstStyle/>
                    <a:p>
                      <a:r>
                        <a:rPr sz="2025" b="0">
                          <a:solidFill>
                            <a:srgbClr val="172B45"/>
                          </a:solidFill>
                          <a:latin typeface="Aptos"/>
                          <a:ea typeface="Aptos"/>
                          <a:cs typeface="Aptos"/>
                        </a:rPr>
                        <a:t>Sample work-arrangement patterns</a:t>
                      </a:r>
                    </a:p>
                  </a:txBody>
                  <a:tcPr>
                    <a:solidFill>
                      <a:srgbClr val="F0F4F8"/>
                    </a:solidFill>
                  </a:tcPr>
                </a:tc>
                <a:tc>
                  <a:txBody>
                    <a:bodyPr/>
                    <a:lstStyle/>
                    <a:p>
                      <a:r>
                        <a:rPr sz="2025" b="0">
                          <a:solidFill>
                            <a:srgbClr val="172B45"/>
                          </a:solidFill>
                          <a:latin typeface="Aptos"/>
                          <a:ea typeface="Aptos"/>
                          <a:cs typeface="Aptos"/>
                        </a:rPr>
                        <a:t>Generalization to future postings and new employers</a:t>
                      </a:r>
                    </a:p>
                  </a:txBody>
                  <a:tcPr>
                    <a:solidFill>
                      <a:srgbClr val="F0F4F8"/>
                    </a:solidFill>
                  </a:tcPr>
                </a:tc>
                <a:extLst>
                  <a:ext uri="{0D108BD9-81ED-4DB2-BD59-A6C34878D82A}">
                    <a16:rowId xmlns:a16="http://schemas.microsoft.com/office/drawing/2014/main" val="10003"/>
                  </a:ext>
                </a:extLst>
              </a:tr>
            </a:tbl>
          </a:graphicData>
        </a:graphic>
      </p:graphicFrame>
      <p:sp>
        <p:nvSpPr>
          <p:cNvPr id="4" name="Rectangle 3">
            <a:extLst>
              <a:ext uri="{FF2B5EF4-FFF2-40B4-BE49-F238E27FC236}">
                <a16:creationId xmlns:a16="http://schemas.microsoft.com/office/drawing/2014/main" id="{BD8A6DC1-B24D-4080-8AD1-64C9A05319B0}"/>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The sample covers the United States and Canada. It does not represent all of North America.</a:t>
            </a:r>
          </a:p>
        </p:txBody>
      </p:sp>
    </p:spTree>
    <p:extLst>
      <p:ext uri="{BB962C8B-B14F-4D97-AF65-F5344CB8AC3E}">
        <p14:creationId xmlns:p14="http://schemas.microsoft.com/office/powerpoint/2010/main" val="151517135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0BDA5A7A-3E9C-4E7B-8BB6-C1E4DE261A8C}"/>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Who can benefit from this information?</a:t>
            </a:r>
          </a:p>
        </p:txBody>
      </p:sp>
      <p:sp>
        <p:nvSpPr>
          <p:cNvPr id="2" name="Rectangle 1">
            <a:extLst>
              <a:ext uri="{FF2B5EF4-FFF2-40B4-BE49-F238E27FC236}">
                <a16:creationId xmlns:a16="http://schemas.microsoft.com/office/drawing/2014/main" id="{B23803E8-1455-4313-9254-9C9C1F7F7156}"/>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11</a:t>
            </a:r>
          </a:p>
        </p:txBody>
      </p:sp>
      <p:graphicFrame>
        <p:nvGraphicFramePr>
          <p:cNvPr id="7" name="Table 6"/>
          <p:cNvGraphicFramePr/>
          <p:nvPr/>
        </p:nvGraphicFramePr>
        <p:xfrm>
          <a:off x="762000" y="1428750"/>
          <a:ext cx="10668000" cy="3810000"/>
        </p:xfrm>
        <a:graphic>
          <a:graphicData uri="http://schemas.openxmlformats.org/drawingml/2006/table">
            <a:tbl>
              <a:tblPr/>
              <a:tblGrid>
                <a:gridCol w="4381500">
                  <a:extLst>
                    <a:ext uri="{9D8B030D-6E8A-4147-A177-3AD203B41FA5}">
                      <a16:colId xmlns:a16="http://schemas.microsoft.com/office/drawing/2014/main" val="20000"/>
                    </a:ext>
                  </a:extLst>
                </a:gridCol>
                <a:gridCol w="6286500">
                  <a:extLst>
                    <a:ext uri="{9D8B030D-6E8A-4147-A177-3AD203B41FA5}">
                      <a16:colId xmlns:a16="http://schemas.microsoft.com/office/drawing/2014/main" val="20001"/>
                    </a:ext>
                  </a:extLst>
                </a:gridCol>
              </a:tblGrid>
              <a:tr h="762000">
                <a:tc>
                  <a:txBody>
                    <a:bodyPr/>
                    <a:lstStyle/>
                    <a:p>
                      <a:r>
                        <a:rPr sz="1950" b="1">
                          <a:solidFill>
                            <a:srgbClr val="FFFFFF"/>
                          </a:solidFill>
                          <a:latin typeface="Aptos"/>
                          <a:ea typeface="Aptos"/>
                          <a:cs typeface="Aptos"/>
                        </a:rPr>
                        <a:t>Audience</a:t>
                      </a:r>
                    </a:p>
                  </a:txBody>
                  <a:tcPr>
                    <a:solidFill>
                      <a:srgbClr val="172B45"/>
                    </a:solidFill>
                  </a:tcPr>
                </a:tc>
                <a:tc>
                  <a:txBody>
                    <a:bodyPr/>
                    <a:lstStyle/>
                    <a:p>
                      <a:r>
                        <a:rPr sz="1950" b="1">
                          <a:solidFill>
                            <a:srgbClr val="FFFFFF"/>
                          </a:solidFill>
                          <a:latin typeface="Aptos"/>
                          <a:ea typeface="Aptos"/>
                          <a:cs typeface="Aptos"/>
                        </a:rPr>
                        <a:t>Potential benefit</a:t>
                      </a:r>
                    </a:p>
                  </a:txBody>
                  <a:tcPr>
                    <a:solidFill>
                      <a:srgbClr val="172B45"/>
                    </a:solidFill>
                  </a:tcPr>
                </a:tc>
                <a:extLst>
                  <a:ext uri="{0D108BD9-81ED-4DB2-BD59-A6C34878D82A}">
                    <a16:rowId xmlns:a16="http://schemas.microsoft.com/office/drawing/2014/main" val="10000"/>
                  </a:ext>
                </a:extLst>
              </a:tr>
              <a:tr h="762000">
                <a:tc>
                  <a:txBody>
                    <a:bodyPr/>
                    <a:lstStyle/>
                    <a:p>
                      <a:r>
                        <a:rPr sz="1950" b="0">
                          <a:solidFill>
                            <a:srgbClr val="172B45"/>
                          </a:solidFill>
                          <a:latin typeface="Aptos"/>
                          <a:ea typeface="Aptos"/>
                          <a:cs typeface="Aptos"/>
                        </a:rPr>
                        <a:t>HR and recruiting teams</a:t>
                      </a:r>
                    </a:p>
                  </a:txBody>
                  <a:tcPr>
                    <a:solidFill>
                      <a:srgbClr val="F0F4F8"/>
                    </a:solidFill>
                  </a:tcPr>
                </a:tc>
                <a:tc>
                  <a:txBody>
                    <a:bodyPr/>
                    <a:lstStyle/>
                    <a:p>
                      <a:r>
                        <a:rPr sz="1950" b="0">
                          <a:solidFill>
                            <a:srgbClr val="172B45"/>
                          </a:solidFill>
                          <a:latin typeface="Aptos"/>
                          <a:ea typeface="Aptos"/>
                          <a:cs typeface="Aptos"/>
                        </a:rPr>
                        <a:t>Clarify requirements and screen for relevant skills</a:t>
                      </a:r>
                    </a:p>
                  </a:txBody>
                  <a:tcPr>
                    <a:solidFill>
                      <a:srgbClr val="F0F4F8"/>
                    </a:solidFill>
                  </a:tcPr>
                </a:tc>
                <a:extLst>
                  <a:ext uri="{0D108BD9-81ED-4DB2-BD59-A6C34878D82A}">
                    <a16:rowId xmlns:a16="http://schemas.microsoft.com/office/drawing/2014/main" val="10001"/>
                  </a:ext>
                </a:extLst>
              </a:tr>
              <a:tr h="762000">
                <a:tc>
                  <a:txBody>
                    <a:bodyPr/>
                    <a:lstStyle/>
                    <a:p>
                      <a:r>
                        <a:rPr sz="1950" b="0">
                          <a:solidFill>
                            <a:srgbClr val="172B45"/>
                          </a:solidFill>
                          <a:latin typeface="Aptos"/>
                          <a:ea typeface="Aptos"/>
                          <a:cs typeface="Aptos"/>
                        </a:rPr>
                        <a:t>Executives and workforce planners</a:t>
                      </a:r>
                    </a:p>
                  </a:txBody>
                  <a:tcPr>
                    <a:solidFill>
                      <a:srgbClr val="FFFFFF"/>
                    </a:solidFill>
                  </a:tcPr>
                </a:tc>
                <a:tc>
                  <a:txBody>
                    <a:bodyPr/>
                    <a:lstStyle/>
                    <a:p>
                      <a:r>
                        <a:rPr sz="1950" b="0">
                          <a:solidFill>
                            <a:srgbClr val="172B45"/>
                          </a:solidFill>
                          <a:latin typeface="Aptos"/>
                          <a:ea typeface="Aptos"/>
                          <a:cs typeface="Aptos"/>
                        </a:rPr>
                        <a:t>Compare role needs and prioritize further workforce analysis</a:t>
                      </a:r>
                    </a:p>
                  </a:txBody>
                  <a:tcPr>
                    <a:solidFill>
                      <a:srgbClr val="FFFFFF"/>
                    </a:solidFill>
                  </a:tcPr>
                </a:tc>
                <a:extLst>
                  <a:ext uri="{0D108BD9-81ED-4DB2-BD59-A6C34878D82A}">
                    <a16:rowId xmlns:a16="http://schemas.microsoft.com/office/drawing/2014/main" val="10002"/>
                  </a:ext>
                </a:extLst>
              </a:tr>
              <a:tr h="762000">
                <a:tc>
                  <a:txBody>
                    <a:bodyPr/>
                    <a:lstStyle/>
                    <a:p>
                      <a:r>
                        <a:rPr sz="1950" b="0">
                          <a:solidFill>
                            <a:srgbClr val="172B45"/>
                          </a:solidFill>
                          <a:latin typeface="Aptos"/>
                          <a:ea typeface="Aptos"/>
                          <a:cs typeface="Aptos"/>
                        </a:rPr>
                        <a:t>Academic leaders and educators</a:t>
                      </a:r>
                    </a:p>
                  </a:txBody>
                  <a:tcPr>
                    <a:solidFill>
                      <a:srgbClr val="F0F4F8"/>
                    </a:solidFill>
                  </a:tcPr>
                </a:tc>
                <a:tc>
                  <a:txBody>
                    <a:bodyPr/>
                    <a:lstStyle/>
                    <a:p>
                      <a:r>
                        <a:rPr sz="1950" b="0">
                          <a:solidFill>
                            <a:srgbClr val="172B45"/>
                          </a:solidFill>
                          <a:latin typeface="Aptos"/>
                          <a:ea typeface="Aptos"/>
                          <a:cs typeface="Aptos"/>
                        </a:rPr>
                        <a:t>Align course topics with specialization-specific skills</a:t>
                      </a:r>
                    </a:p>
                  </a:txBody>
                  <a:tcPr>
                    <a:solidFill>
                      <a:srgbClr val="F0F4F8"/>
                    </a:solidFill>
                  </a:tcPr>
                </a:tc>
                <a:extLst>
                  <a:ext uri="{0D108BD9-81ED-4DB2-BD59-A6C34878D82A}">
                    <a16:rowId xmlns:a16="http://schemas.microsoft.com/office/drawing/2014/main" val="10003"/>
                  </a:ext>
                </a:extLst>
              </a:tr>
              <a:tr h="762000">
                <a:tc>
                  <a:txBody>
                    <a:bodyPr/>
                    <a:lstStyle/>
                    <a:p>
                      <a:r>
                        <a:rPr sz="1950" b="0">
                          <a:solidFill>
                            <a:srgbClr val="172B45"/>
                          </a:solidFill>
                          <a:latin typeface="Aptos"/>
                          <a:ea typeface="Aptos"/>
                          <a:cs typeface="Aptos"/>
                        </a:rPr>
                        <a:t>Job seekers and career advisers</a:t>
                      </a:r>
                    </a:p>
                  </a:txBody>
                  <a:tcPr>
                    <a:solidFill>
                      <a:srgbClr val="FFFFFF"/>
                    </a:solidFill>
                  </a:tcPr>
                </a:tc>
                <a:tc>
                  <a:txBody>
                    <a:bodyPr/>
                    <a:lstStyle/>
                    <a:p>
                      <a:r>
                        <a:rPr sz="1950" b="0">
                          <a:solidFill>
                            <a:srgbClr val="172B45"/>
                          </a:solidFill>
                          <a:latin typeface="Aptos"/>
                          <a:ea typeface="Aptos"/>
                          <a:cs typeface="Aptos"/>
                        </a:rPr>
                        <a:t>Compare roles and identify skills to develop</a:t>
                      </a:r>
                    </a:p>
                  </a:txBody>
                  <a:tcPr>
                    <a:solidFill>
                      <a:srgbClr val="FFFFFF"/>
                    </a:solidFill>
                  </a:tcPr>
                </a:tc>
                <a:extLst>
                  <a:ext uri="{0D108BD9-81ED-4DB2-BD59-A6C34878D82A}">
                    <a16:rowId xmlns:a16="http://schemas.microsoft.com/office/drawing/2014/main" val="10004"/>
                  </a:ext>
                </a:extLst>
              </a:tr>
            </a:tbl>
          </a:graphicData>
        </a:graphic>
      </p:graphicFrame>
      <p:sp>
        <p:nvSpPr>
          <p:cNvPr id="4" name="Rectangle 3">
            <a:extLst>
              <a:ext uri="{FF2B5EF4-FFF2-40B4-BE49-F238E27FC236}">
                <a16:creationId xmlns:a16="http://schemas.microsoft.com/office/drawing/2014/main" id="{18470813-23EE-446D-A96E-1B7A8460E132}"/>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Compensation-related benefits depend on correcting the data and rerunning the analysis.</a:t>
            </a:r>
          </a:p>
        </p:txBody>
      </p:sp>
    </p:spTree>
    <p:extLst>
      <p:ext uri="{BB962C8B-B14F-4D97-AF65-F5344CB8AC3E}">
        <p14:creationId xmlns:p14="http://schemas.microsoft.com/office/powerpoint/2010/main" val="687730660"/>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F0A300F6-84DA-4A1A-8574-377CBEB591B5}"/>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Next steps for a defensible business application</a:t>
            </a:r>
          </a:p>
        </p:txBody>
      </p:sp>
      <p:sp>
        <p:nvSpPr>
          <p:cNvPr id="2" name="Rectangle 1">
            <a:extLst>
              <a:ext uri="{FF2B5EF4-FFF2-40B4-BE49-F238E27FC236}">
                <a16:creationId xmlns:a16="http://schemas.microsoft.com/office/drawing/2014/main" id="{A339483C-93B9-4C89-B702-16FCF260FB2E}"/>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12</a:t>
            </a:r>
          </a:p>
        </p:txBody>
      </p:sp>
      <p:sp>
        <p:nvSpPr>
          <p:cNvPr id="3" name="Rectangle 2">
            <a:extLst>
              <a:ext uri="{FF2B5EF4-FFF2-40B4-BE49-F238E27FC236}">
                <a16:creationId xmlns:a16="http://schemas.microsoft.com/office/drawing/2014/main" id="{7BC8EF08-872D-4A04-9B20-2B667EA75A0A}"/>
              </a:ext>
            </a:extLst>
          </p:cNvPr>
          <p:cNvSpPr>
            <a:spLocks noGrp="1"/>
          </p:cNvSpPr>
          <p:nvPr/>
        </p:nvSpPr>
        <p:spPr>
          <a:xfrm>
            <a:off x="762000" y="1571625"/>
            <a:ext cx="10572750" cy="857250"/>
          </a:xfrm>
          <a:prstGeom prst="rect">
            <a:avLst/>
          </a:prstGeom>
          <a:noFill/>
          <a:ln w="0">
            <a:noFill/>
          </a:ln>
        </p:spPr>
        <p:txBody>
          <a:bodyPr>
            <a:noAutofit/>
          </a:bodyPr>
          <a:lstStyle/>
          <a:p>
            <a:pPr>
              <a:defRPr sz="2100" b="0">
                <a:solidFill>
                  <a:srgbClr val="172B45"/>
                </a:solidFill>
                <a:latin typeface="Aptos"/>
                <a:ea typeface="Aptos"/>
                <a:cs typeface="Aptos"/>
              </a:defRPr>
            </a:pPr>
            <a:r>
              <a:rPr sz="2100" b="0">
                <a:solidFill>
                  <a:srgbClr val="172B45"/>
                </a:solidFill>
                <a:latin typeface="Aptos"/>
                <a:ea typeface="Aptos"/>
                <a:cs typeface="Aptos"/>
              </a:rPr>
              <a:t>Correct currency conversion and country labels, then rerun the salary pipeline.</a:t>
            </a:r>
          </a:p>
        </p:txBody>
      </p:sp>
      <p:sp>
        <p:nvSpPr>
          <p:cNvPr id="4" name="Rectangle 3">
            <a:extLst>
              <a:ext uri="{FF2B5EF4-FFF2-40B4-BE49-F238E27FC236}">
                <a16:creationId xmlns:a16="http://schemas.microsoft.com/office/drawing/2014/main" id="{A2F8F8B3-F341-48A3-94C8-3B39F9A06B9E}"/>
              </a:ext>
            </a:extLst>
          </p:cNvPr>
          <p:cNvSpPr>
            <a:spLocks noGrp="1"/>
          </p:cNvSpPr>
          <p:nvPr/>
        </p:nvSpPr>
        <p:spPr>
          <a:xfrm>
            <a:off x="762000" y="2571750"/>
            <a:ext cx="10572750" cy="857250"/>
          </a:xfrm>
          <a:prstGeom prst="rect">
            <a:avLst/>
          </a:prstGeom>
          <a:noFill/>
          <a:ln w="0">
            <a:noFill/>
          </a:ln>
        </p:spPr>
        <p:txBody>
          <a:bodyPr>
            <a:noAutofit/>
          </a:bodyPr>
          <a:lstStyle/>
          <a:p>
            <a:pPr>
              <a:defRPr sz="2100" b="0">
                <a:solidFill>
                  <a:srgbClr val="172B45"/>
                </a:solidFill>
                <a:latin typeface="Aptos"/>
                <a:ea typeface="Aptos"/>
                <a:cs typeface="Aptos"/>
              </a:defRPr>
            </a:pPr>
            <a:r>
              <a:rPr sz="2100" b="0">
                <a:solidFill>
                  <a:srgbClr val="172B45"/>
                </a:solidFill>
                <a:latin typeface="Aptos"/>
                <a:ea typeface="Aptos"/>
                <a:cs typeface="Aptos"/>
              </a:rPr>
              <a:t>Test location, title, specialization, and industry. Evaluate errors by relevant workforce segment.</a:t>
            </a:r>
          </a:p>
        </p:txBody>
      </p:sp>
      <p:sp>
        <p:nvSpPr>
          <p:cNvPr id="5" name="Rectangle 4">
            <a:extLst>
              <a:ext uri="{FF2B5EF4-FFF2-40B4-BE49-F238E27FC236}">
                <a16:creationId xmlns:a16="http://schemas.microsoft.com/office/drawing/2014/main" id="{0703F2E5-F2CB-4E97-9807-F7C7E44CD5F2}"/>
              </a:ext>
            </a:extLst>
          </p:cNvPr>
          <p:cNvSpPr>
            <a:spLocks noGrp="1"/>
          </p:cNvSpPr>
          <p:nvPr/>
        </p:nvSpPr>
        <p:spPr>
          <a:xfrm>
            <a:off x="762000" y="3571875"/>
            <a:ext cx="10572750" cy="857250"/>
          </a:xfrm>
          <a:prstGeom prst="rect">
            <a:avLst/>
          </a:prstGeom>
          <a:noFill/>
          <a:ln w="0">
            <a:noFill/>
          </a:ln>
        </p:spPr>
        <p:txBody>
          <a:bodyPr>
            <a:noAutofit/>
          </a:bodyPr>
          <a:lstStyle/>
          <a:p>
            <a:pPr>
              <a:defRPr sz="2100" b="0">
                <a:solidFill>
                  <a:srgbClr val="172B45"/>
                </a:solidFill>
                <a:latin typeface="Aptos"/>
                <a:ea typeface="Aptos"/>
                <a:cs typeface="Aptos"/>
              </a:defRPr>
            </a:pPr>
            <a:r>
              <a:rPr sz="2100" b="0">
                <a:solidFill>
                  <a:srgbClr val="172B45"/>
                </a:solidFill>
                <a:latin typeface="Aptos"/>
                <a:ea typeface="Aptos"/>
                <a:cs typeface="Aptos"/>
              </a:rPr>
              <a:t>Validate on future postings or unfamiliar employers before using predictions in planning.</a:t>
            </a:r>
          </a:p>
        </p:txBody>
      </p:sp>
      <p:sp>
        <p:nvSpPr>
          <p:cNvPr id="6" name="Rectangle 5">
            <a:extLst>
              <a:ext uri="{FF2B5EF4-FFF2-40B4-BE49-F238E27FC236}">
                <a16:creationId xmlns:a16="http://schemas.microsoft.com/office/drawing/2014/main" id="{10D53081-454A-4338-A7DD-090DDEACC632}"/>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Proposed sequence based on the report’s future work. No deployment decision has been established.</a:t>
            </a:r>
          </a:p>
        </p:txBody>
      </p:sp>
    </p:spTree>
    <p:extLst>
      <p:ext uri="{BB962C8B-B14F-4D97-AF65-F5344CB8AC3E}">
        <p14:creationId xmlns:p14="http://schemas.microsoft.com/office/powerpoint/2010/main" val="135841286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862E0CBA-822A-4142-AE3B-0AEAA58A30DD}"/>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Closing perspective</a:t>
            </a:r>
          </a:p>
        </p:txBody>
      </p:sp>
      <p:sp>
        <p:nvSpPr>
          <p:cNvPr id="2" name="Rectangle 1">
            <a:extLst>
              <a:ext uri="{FF2B5EF4-FFF2-40B4-BE49-F238E27FC236}">
                <a16:creationId xmlns:a16="http://schemas.microsoft.com/office/drawing/2014/main" id="{AA326C6A-F7A2-49EB-B00D-E4A4C1BD8249}"/>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13</a:t>
            </a:r>
          </a:p>
        </p:txBody>
      </p:sp>
      <p:sp>
        <p:nvSpPr>
          <p:cNvPr id="3" name="Rectangle 2">
            <a:extLst>
              <a:ext uri="{FF2B5EF4-FFF2-40B4-BE49-F238E27FC236}">
                <a16:creationId xmlns:a16="http://schemas.microsoft.com/office/drawing/2014/main" id="{8A4CEE2D-0D80-4ED8-8028-C8AC541D2CBC}"/>
              </a:ext>
            </a:extLst>
          </p:cNvPr>
          <p:cNvSpPr>
            <a:spLocks noGrp="1"/>
          </p:cNvSpPr>
          <p:nvPr/>
        </p:nvSpPr>
        <p:spPr>
          <a:xfrm>
            <a:off x="762000" y="1809750"/>
            <a:ext cx="10382250" cy="1238250"/>
          </a:xfrm>
          <a:prstGeom prst="rect">
            <a:avLst/>
          </a:prstGeom>
          <a:noFill/>
          <a:ln w="0">
            <a:noFill/>
          </a:ln>
        </p:spPr>
        <p:txBody>
          <a:bodyPr>
            <a:noAutofit/>
          </a:bodyPr>
          <a:lstStyle/>
          <a:p>
            <a:pPr>
              <a:defRPr sz="3300" b="1">
                <a:solidFill>
                  <a:srgbClr val="172B45"/>
                </a:solidFill>
                <a:latin typeface="Aptos"/>
                <a:ea typeface="Aptos"/>
                <a:cs typeface="Aptos"/>
              </a:defRPr>
            </a:pPr>
            <a:r>
              <a:rPr sz="3300" b="1">
                <a:solidFill>
                  <a:srgbClr val="172B45"/>
                </a:solidFill>
                <a:latin typeface="Aptos"/>
                <a:ea typeface="Aptos"/>
                <a:cs typeface="Aptos"/>
              </a:rPr>
              <a:t>Clearer role definitions are the strongest immediate opportunity.</a:t>
            </a:r>
          </a:p>
        </p:txBody>
      </p:sp>
      <p:sp>
        <p:nvSpPr>
          <p:cNvPr id="4" name="Rectangle 3">
            <a:extLst>
              <a:ext uri="{FF2B5EF4-FFF2-40B4-BE49-F238E27FC236}">
                <a16:creationId xmlns:a16="http://schemas.microsoft.com/office/drawing/2014/main" id="{6BF862F1-AE9B-425F-A0BC-6A32F1B7C3B6}"/>
              </a:ext>
            </a:extLst>
          </p:cNvPr>
          <p:cNvSpPr>
            <a:spLocks noGrp="1"/>
          </p:cNvSpPr>
          <p:nvPr/>
        </p:nvSpPr>
        <p:spPr>
          <a:xfrm>
            <a:off x="762000" y="3619500"/>
            <a:ext cx="10477500" cy="952500"/>
          </a:xfrm>
          <a:prstGeom prst="rect">
            <a:avLst/>
          </a:prstGeom>
          <a:noFill/>
          <a:ln w="0">
            <a:noFill/>
          </a:ln>
        </p:spPr>
        <p:txBody>
          <a:bodyPr>
            <a:noAutofit/>
          </a:bodyPr>
          <a:lstStyle/>
          <a:p>
            <a:pPr>
              <a:defRPr sz="2325" b="0">
                <a:solidFill>
                  <a:srgbClr val="172B45"/>
                </a:solidFill>
                <a:latin typeface="Aptos"/>
                <a:ea typeface="Aptos"/>
                <a:cs typeface="Aptos"/>
              </a:defRPr>
            </a:pPr>
            <a:r>
              <a:rPr sz="2325" b="0">
                <a:solidFill>
                  <a:srgbClr val="172B45"/>
                </a:solidFill>
                <a:latin typeface="Aptos"/>
                <a:ea typeface="Aptos"/>
                <a:cs typeface="Aptos"/>
              </a:rPr>
              <a:t>The analysis can support conversations about hiring requirements and training priorities.</a:t>
            </a:r>
          </a:p>
        </p:txBody>
      </p:sp>
      <p:sp>
        <p:nvSpPr>
          <p:cNvPr id="5" name="Rectangle 4">
            <a:extLst>
              <a:ext uri="{FF2B5EF4-FFF2-40B4-BE49-F238E27FC236}">
                <a16:creationId xmlns:a16="http://schemas.microsoft.com/office/drawing/2014/main" id="{C0AAA15B-9AB4-4144-B5D6-4E46C7DB68B0}"/>
              </a:ext>
            </a:extLst>
          </p:cNvPr>
          <p:cNvSpPr>
            <a:spLocks noGrp="1"/>
          </p:cNvSpPr>
          <p:nvPr/>
        </p:nvSpPr>
        <p:spPr>
          <a:xfrm>
            <a:off x="762000" y="4810125"/>
            <a:ext cx="10477500" cy="952500"/>
          </a:xfrm>
          <a:prstGeom prst="rect">
            <a:avLst/>
          </a:prstGeom>
          <a:noFill/>
          <a:ln w="0">
            <a:noFill/>
          </a:ln>
        </p:spPr>
        <p:txBody>
          <a:bodyPr>
            <a:noAutofit/>
          </a:bodyPr>
          <a:lstStyle/>
          <a:p>
            <a:pPr>
              <a:defRPr sz="2325" b="0">
                <a:solidFill>
                  <a:srgbClr val="172B45"/>
                </a:solidFill>
                <a:latin typeface="Aptos"/>
                <a:ea typeface="Aptos"/>
                <a:cs typeface="Aptos"/>
              </a:defRPr>
            </a:pPr>
            <a:r>
              <a:rPr sz="2325" b="0">
                <a:solidFill>
                  <a:srgbClr val="172B45"/>
                </a:solidFill>
                <a:latin typeface="Aptos"/>
                <a:ea typeface="Aptos"/>
                <a:cs typeface="Aptos"/>
              </a:rPr>
              <a:t>Reliable compensation planning is the next opportunity after data correction and validation.</a:t>
            </a:r>
          </a:p>
        </p:txBody>
      </p:sp>
      <p:sp>
        <p:nvSpPr>
          <p:cNvPr id="6" name="Rectangle 5">
            <a:extLst>
              <a:ext uri="{FF2B5EF4-FFF2-40B4-BE49-F238E27FC236}">
                <a16:creationId xmlns:a16="http://schemas.microsoft.com/office/drawing/2014/main" id="{FC100951-55FF-4751-A0DC-023B07D2A9AD}"/>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Discussion: Which workforce decision would benefit most from better AI role definitions?</a:t>
            </a:r>
          </a:p>
        </p:txBody>
      </p:sp>
    </p:spTree>
    <p:extLst>
      <p:ext uri="{BB962C8B-B14F-4D97-AF65-F5344CB8AC3E}">
        <p14:creationId xmlns:p14="http://schemas.microsoft.com/office/powerpoint/2010/main" val="1296489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1E0C060B-93D9-4341-98F0-2D6C521619F2}"/>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Appendix: Complete specialization profiles</a:t>
            </a:r>
          </a:p>
        </p:txBody>
      </p:sp>
      <p:sp>
        <p:nvSpPr>
          <p:cNvPr id="2" name="Rectangle 1">
            <a:extLst>
              <a:ext uri="{FF2B5EF4-FFF2-40B4-BE49-F238E27FC236}">
                <a16:creationId xmlns:a16="http://schemas.microsoft.com/office/drawing/2014/main" id="{7698DF9C-07F8-4392-BCB0-7C89D21D1A11}"/>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14</a:t>
            </a:r>
          </a:p>
        </p:txBody>
      </p:sp>
      <p:graphicFrame>
        <p:nvGraphicFramePr>
          <p:cNvPr id="7" name="Table 6"/>
          <p:cNvGraphicFramePr/>
          <p:nvPr/>
        </p:nvGraphicFramePr>
        <p:xfrm>
          <a:off x="762000" y="1381125"/>
          <a:ext cx="10668000" cy="4191000"/>
        </p:xfrm>
        <a:graphic>
          <a:graphicData uri="http://schemas.openxmlformats.org/drawingml/2006/table">
            <a:tbl>
              <a:tblPr/>
              <a:tblGrid>
                <a:gridCol w="3048000">
                  <a:extLst>
                    <a:ext uri="{9D8B030D-6E8A-4147-A177-3AD203B41FA5}">
                      <a16:colId xmlns:a16="http://schemas.microsoft.com/office/drawing/2014/main" val="20000"/>
                    </a:ext>
                  </a:extLst>
                </a:gridCol>
                <a:gridCol w="7620000">
                  <a:extLst>
                    <a:ext uri="{9D8B030D-6E8A-4147-A177-3AD203B41FA5}">
                      <a16:colId xmlns:a16="http://schemas.microsoft.com/office/drawing/2014/main" val="20001"/>
                    </a:ext>
                  </a:extLst>
                </a:gridCol>
              </a:tblGrid>
              <a:tr h="523875">
                <a:tc>
                  <a:txBody>
                    <a:bodyPr/>
                    <a:lstStyle/>
                    <a:p>
                      <a:r>
                        <a:rPr sz="1650" b="1">
                          <a:solidFill>
                            <a:srgbClr val="FFFFFF"/>
                          </a:solidFill>
                          <a:latin typeface="Aptos"/>
                          <a:ea typeface="Aptos"/>
                          <a:cs typeface="Aptos"/>
                        </a:rPr>
                        <a:t>Specialization</a:t>
                      </a:r>
                    </a:p>
                  </a:txBody>
                  <a:tcPr>
                    <a:solidFill>
                      <a:srgbClr val="172B45"/>
                    </a:solidFill>
                  </a:tcPr>
                </a:tc>
                <a:tc>
                  <a:txBody>
                    <a:bodyPr/>
                    <a:lstStyle/>
                    <a:p>
                      <a:r>
                        <a:rPr sz="1650" b="1">
                          <a:solidFill>
                            <a:srgbClr val="FFFFFF"/>
                          </a:solidFill>
                          <a:latin typeface="Aptos"/>
                          <a:ea typeface="Aptos"/>
                          <a:cs typeface="Aptos"/>
                        </a:rPr>
                        <a:t>Examples of distinguishing skills</a:t>
                      </a:r>
                    </a:p>
                  </a:txBody>
                  <a:tcPr>
                    <a:solidFill>
                      <a:srgbClr val="172B45"/>
                    </a:solidFill>
                  </a:tcPr>
                </a:tc>
                <a:extLst>
                  <a:ext uri="{0D108BD9-81ED-4DB2-BD59-A6C34878D82A}">
                    <a16:rowId xmlns:a16="http://schemas.microsoft.com/office/drawing/2014/main" val="10000"/>
                  </a:ext>
                </a:extLst>
              </a:tr>
              <a:tr h="523875">
                <a:tc>
                  <a:txBody>
                    <a:bodyPr/>
                    <a:lstStyle/>
                    <a:p>
                      <a:r>
                        <a:rPr sz="1650" b="0">
                          <a:solidFill>
                            <a:srgbClr val="172B45"/>
                          </a:solidFill>
                          <a:latin typeface="Aptos"/>
                          <a:ea typeface="Aptos"/>
                          <a:cs typeface="Aptos"/>
                        </a:rPr>
                        <a:t>Computer Vision</a:t>
                      </a:r>
                    </a:p>
                  </a:txBody>
                  <a:tcPr>
                    <a:solidFill>
                      <a:srgbClr val="F0F4F8"/>
                    </a:solidFill>
                  </a:tcPr>
                </a:tc>
                <a:tc>
                  <a:txBody>
                    <a:bodyPr/>
                    <a:lstStyle/>
                    <a:p>
                      <a:r>
                        <a:rPr sz="1650" b="0">
                          <a:solidFill>
                            <a:srgbClr val="172B45"/>
                          </a:solidFill>
                          <a:latin typeface="Aptos"/>
                          <a:ea typeface="Aptos"/>
                          <a:cs typeface="Aptos"/>
                        </a:rPr>
                        <a:t>OCR, OpenCV, YOLO, ResNet</a:t>
                      </a:r>
                    </a:p>
                  </a:txBody>
                  <a:tcPr>
                    <a:solidFill>
                      <a:srgbClr val="F0F4F8"/>
                    </a:solidFill>
                  </a:tcPr>
                </a:tc>
                <a:extLst>
                  <a:ext uri="{0D108BD9-81ED-4DB2-BD59-A6C34878D82A}">
                    <a16:rowId xmlns:a16="http://schemas.microsoft.com/office/drawing/2014/main" val="10001"/>
                  </a:ext>
                </a:extLst>
              </a:tr>
              <a:tr h="523875">
                <a:tc>
                  <a:txBody>
                    <a:bodyPr/>
                    <a:lstStyle/>
                    <a:p>
                      <a:r>
                        <a:rPr sz="1650" b="0">
                          <a:solidFill>
                            <a:srgbClr val="172B45"/>
                          </a:solidFill>
                          <a:latin typeface="Aptos"/>
                          <a:ea typeface="Aptos"/>
                          <a:cs typeface="Aptos"/>
                        </a:rPr>
                        <a:t>Data Science</a:t>
                      </a:r>
                    </a:p>
                  </a:txBody>
                  <a:tcPr>
                    <a:solidFill>
                      <a:srgbClr val="FFFFFF"/>
                    </a:solidFill>
                  </a:tcPr>
                </a:tc>
                <a:tc>
                  <a:txBody>
                    <a:bodyPr/>
                    <a:lstStyle/>
                    <a:p>
                      <a:r>
                        <a:rPr sz="1650" b="0">
                          <a:solidFill>
                            <a:srgbClr val="172B45"/>
                          </a:solidFill>
                          <a:latin typeface="Aptos"/>
                          <a:ea typeface="Aptos"/>
                          <a:cs typeface="Aptos"/>
                        </a:rPr>
                        <a:t>SQL, A/B testing, Statsmodels, visualization</a:t>
                      </a:r>
                    </a:p>
                  </a:txBody>
                  <a:tcPr>
                    <a:solidFill>
                      <a:srgbClr val="FFFFFF"/>
                    </a:solidFill>
                  </a:tcPr>
                </a:tc>
                <a:extLst>
                  <a:ext uri="{0D108BD9-81ED-4DB2-BD59-A6C34878D82A}">
                    <a16:rowId xmlns:a16="http://schemas.microsoft.com/office/drawing/2014/main" val="10002"/>
                  </a:ext>
                </a:extLst>
              </a:tr>
              <a:tr h="523875">
                <a:tc>
                  <a:txBody>
                    <a:bodyPr/>
                    <a:lstStyle/>
                    <a:p>
                      <a:r>
                        <a:rPr sz="1650" b="0">
                          <a:solidFill>
                            <a:srgbClr val="172B45"/>
                          </a:solidFill>
                          <a:latin typeface="Aptos"/>
                          <a:ea typeface="Aptos"/>
                          <a:cs typeface="Aptos"/>
                        </a:rPr>
                        <a:t>Deep Learning</a:t>
                      </a:r>
                    </a:p>
                  </a:txBody>
                  <a:tcPr>
                    <a:solidFill>
                      <a:srgbClr val="F0F4F8"/>
                    </a:solidFill>
                  </a:tcPr>
                </a:tc>
                <a:tc>
                  <a:txBody>
                    <a:bodyPr/>
                    <a:lstStyle/>
                    <a:p>
                      <a:r>
                        <a:rPr sz="1650" b="0">
                          <a:solidFill>
                            <a:srgbClr val="172B45"/>
                          </a:solidFill>
                          <a:latin typeface="Aptos"/>
                          <a:ea typeface="Aptos"/>
                          <a:cs typeface="Aptos"/>
                        </a:rPr>
                        <a:t>CNNs, CUDA, Keras, backpropagation</a:t>
                      </a:r>
                    </a:p>
                  </a:txBody>
                  <a:tcPr>
                    <a:solidFill>
                      <a:srgbClr val="F0F4F8"/>
                    </a:solidFill>
                  </a:tcPr>
                </a:tc>
                <a:extLst>
                  <a:ext uri="{0D108BD9-81ED-4DB2-BD59-A6C34878D82A}">
                    <a16:rowId xmlns:a16="http://schemas.microsoft.com/office/drawing/2014/main" val="10003"/>
                  </a:ext>
                </a:extLst>
              </a:tr>
              <a:tr h="523875">
                <a:tc>
                  <a:txBody>
                    <a:bodyPr/>
                    <a:lstStyle/>
                    <a:p>
                      <a:r>
                        <a:rPr sz="1650" b="0">
                          <a:solidFill>
                            <a:srgbClr val="172B45"/>
                          </a:solidFill>
                          <a:latin typeface="Aptos"/>
                          <a:ea typeface="Aptos"/>
                          <a:cs typeface="Aptos"/>
                        </a:rPr>
                        <a:t>Generative AI</a:t>
                      </a:r>
                    </a:p>
                  </a:txBody>
                  <a:tcPr>
                    <a:solidFill>
                      <a:srgbClr val="FFFFFF"/>
                    </a:solidFill>
                  </a:tcPr>
                </a:tc>
                <a:tc>
                  <a:txBody>
                    <a:bodyPr/>
                    <a:lstStyle/>
                    <a:p>
                      <a:r>
                        <a:rPr sz="1650" b="0">
                          <a:solidFill>
                            <a:srgbClr val="172B45"/>
                          </a:solidFill>
                          <a:latin typeface="Aptos"/>
                          <a:ea typeface="Aptos"/>
                          <a:cs typeface="Aptos"/>
                        </a:rPr>
                        <a:t>Vector databases, LangChain, RAG, fine-tuning</a:t>
                      </a:r>
                    </a:p>
                  </a:txBody>
                  <a:tcPr>
                    <a:solidFill>
                      <a:srgbClr val="FFFFFF"/>
                    </a:solidFill>
                  </a:tcPr>
                </a:tc>
                <a:extLst>
                  <a:ext uri="{0D108BD9-81ED-4DB2-BD59-A6C34878D82A}">
                    <a16:rowId xmlns:a16="http://schemas.microsoft.com/office/drawing/2014/main" val="10004"/>
                  </a:ext>
                </a:extLst>
              </a:tr>
              <a:tr h="523875">
                <a:tc>
                  <a:txBody>
                    <a:bodyPr/>
                    <a:lstStyle/>
                    <a:p>
                      <a:r>
                        <a:rPr sz="1650" b="0">
                          <a:solidFill>
                            <a:srgbClr val="172B45"/>
                          </a:solidFill>
                          <a:latin typeface="Aptos"/>
                          <a:ea typeface="Aptos"/>
                          <a:cs typeface="Aptos"/>
                        </a:rPr>
                        <a:t>MLOps</a:t>
                      </a:r>
                    </a:p>
                  </a:txBody>
                  <a:tcPr>
                    <a:solidFill>
                      <a:srgbClr val="F0F4F8"/>
                    </a:solidFill>
                  </a:tcPr>
                </a:tc>
                <a:tc>
                  <a:txBody>
                    <a:bodyPr/>
                    <a:lstStyle/>
                    <a:p>
                      <a:r>
                        <a:rPr sz="1650" b="0">
                          <a:solidFill>
                            <a:srgbClr val="172B45"/>
                          </a:solidFill>
                          <a:latin typeface="Aptos"/>
                          <a:ea typeface="Aptos"/>
                          <a:cs typeface="Aptos"/>
                        </a:rPr>
                        <a:t>Model monitoring, Kubeflow, Kubernetes, Terraform</a:t>
                      </a:r>
                    </a:p>
                  </a:txBody>
                  <a:tcPr>
                    <a:solidFill>
                      <a:srgbClr val="F0F4F8"/>
                    </a:solidFill>
                  </a:tcPr>
                </a:tc>
                <a:extLst>
                  <a:ext uri="{0D108BD9-81ED-4DB2-BD59-A6C34878D82A}">
                    <a16:rowId xmlns:a16="http://schemas.microsoft.com/office/drawing/2014/main" val="10005"/>
                  </a:ext>
                </a:extLst>
              </a:tr>
              <a:tr h="523875">
                <a:tc>
                  <a:txBody>
                    <a:bodyPr/>
                    <a:lstStyle/>
                    <a:p>
                      <a:r>
                        <a:rPr sz="1650" b="0">
                          <a:solidFill>
                            <a:srgbClr val="172B45"/>
                          </a:solidFill>
                          <a:latin typeface="Aptos"/>
                          <a:ea typeface="Aptos"/>
                          <a:cs typeface="Aptos"/>
                        </a:rPr>
                        <a:t>Machine Learning</a:t>
                      </a:r>
                    </a:p>
                  </a:txBody>
                  <a:tcPr>
                    <a:solidFill>
                      <a:srgbClr val="FFFFFF"/>
                    </a:solidFill>
                  </a:tcPr>
                </a:tc>
                <a:tc>
                  <a:txBody>
                    <a:bodyPr/>
                    <a:lstStyle/>
                    <a:p>
                      <a:r>
                        <a:rPr sz="1650" b="0">
                          <a:solidFill>
                            <a:srgbClr val="172B45"/>
                          </a:solidFill>
                          <a:latin typeface="Aptos"/>
                          <a:ea typeface="Aptos"/>
                          <a:cs typeface="Aptos"/>
                        </a:rPr>
                        <a:t>Feature engineering, NumPy, XGBoost, regression</a:t>
                      </a:r>
                    </a:p>
                  </a:txBody>
                  <a:tcPr>
                    <a:solidFill>
                      <a:srgbClr val="FFFFFF"/>
                    </a:solidFill>
                  </a:tcPr>
                </a:tc>
                <a:extLst>
                  <a:ext uri="{0D108BD9-81ED-4DB2-BD59-A6C34878D82A}">
                    <a16:rowId xmlns:a16="http://schemas.microsoft.com/office/drawing/2014/main" val="10006"/>
                  </a:ext>
                </a:extLst>
              </a:tr>
              <a:tr h="523875">
                <a:tc>
                  <a:txBody>
                    <a:bodyPr/>
                    <a:lstStyle/>
                    <a:p>
                      <a:r>
                        <a:rPr sz="1650" b="0">
                          <a:solidFill>
                            <a:srgbClr val="172B45"/>
                          </a:solidFill>
                          <a:latin typeface="Aptos"/>
                          <a:ea typeface="Aptos"/>
                          <a:cs typeface="Aptos"/>
                        </a:rPr>
                        <a:t>NLP</a:t>
                      </a:r>
                    </a:p>
                  </a:txBody>
                  <a:tcPr>
                    <a:solidFill>
                      <a:srgbClr val="F0F4F8"/>
                    </a:solidFill>
                  </a:tcPr>
                </a:tc>
                <a:tc>
                  <a:txBody>
                    <a:bodyPr/>
                    <a:lstStyle/>
                    <a:p>
                      <a:r>
                        <a:rPr sz="1650" b="0">
                          <a:solidFill>
                            <a:srgbClr val="172B45"/>
                          </a:solidFill>
                          <a:latin typeface="Aptos"/>
                          <a:ea typeface="Aptos"/>
                          <a:cs typeface="Aptos"/>
                        </a:rPr>
                        <a:t>BERT, spaCy, tokenization, Transformers</a:t>
                      </a:r>
                    </a:p>
                  </a:txBody>
                  <a:tcPr>
                    <a:solidFill>
                      <a:srgbClr val="F0F4F8"/>
                    </a:solidFill>
                  </a:tcPr>
                </a:tc>
                <a:extLst>
                  <a:ext uri="{0D108BD9-81ED-4DB2-BD59-A6C34878D82A}">
                    <a16:rowId xmlns:a16="http://schemas.microsoft.com/office/drawing/2014/main" val="10007"/>
                  </a:ext>
                </a:extLst>
              </a:tr>
            </a:tbl>
          </a:graphicData>
        </a:graphic>
      </p:graphicFrame>
      <p:sp>
        <p:nvSpPr>
          <p:cNvPr id="4" name="Rectangle 3">
            <a:extLst>
              <a:ext uri="{FF2B5EF4-FFF2-40B4-BE49-F238E27FC236}">
                <a16:creationId xmlns:a16="http://schemas.microsoft.com/office/drawing/2014/main" id="{9695000A-F7C5-4467-89E0-0FD06FB6C0EA}"/>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Comparison uses within-specialization skill prevalence minus overall prevalence in percentage points.</a:t>
            </a:r>
          </a:p>
        </p:txBody>
      </p:sp>
    </p:spTree>
    <p:extLst>
      <p:ext uri="{BB962C8B-B14F-4D97-AF65-F5344CB8AC3E}">
        <p14:creationId xmlns:p14="http://schemas.microsoft.com/office/powerpoint/2010/main" val="23565802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 name="Rectangle 4">
            <a:extLst>
              <a:ext uri="{FF2B5EF4-FFF2-40B4-BE49-F238E27FC236}">
                <a16:creationId xmlns:a16="http://schemas.microsoft.com/office/drawing/2014/main" id="{91368555-2083-4BE2-89C6-A4EA8FE7A361}"/>
              </a:ext>
            </a:extLst>
          </p:cNvPr>
          <p:cNvSpPr>
            <a:spLocks noGrp="1"/>
          </p:cNvSpPr>
          <p:nvPr/>
        </p:nvSpPr>
        <p:spPr>
          <a:xfrm>
            <a:off x="666750" y="428625"/>
            <a:ext cx="10858500" cy="857250"/>
          </a:xfrm>
          <a:prstGeom prst="rect">
            <a:avLst/>
          </a:prstGeom>
          <a:noFill/>
          <a:ln w="0">
            <a:noFill/>
          </a:ln>
        </p:spPr>
        <p:txBody>
          <a:bodyPr>
            <a:noAutofit/>
          </a:bodyPr>
          <a:lstStyle/>
          <a:p>
            <a:pPr>
              <a:defRPr sz="3150" b="1">
                <a:solidFill>
                  <a:srgbClr val="172B45"/>
                </a:solidFill>
                <a:latin typeface="Aptos"/>
                <a:ea typeface="Aptos"/>
                <a:cs typeface="Aptos"/>
              </a:defRPr>
            </a:pPr>
            <a:r>
              <a:rPr sz="3150" b="1">
                <a:solidFill>
                  <a:srgbClr val="172B45"/>
                </a:solidFill>
                <a:latin typeface="Aptos"/>
                <a:ea typeface="Aptos"/>
                <a:cs typeface="Aptos"/>
              </a:rPr>
              <a:t>Appendix: Modeling and evaluation</a:t>
            </a:r>
          </a:p>
        </p:txBody>
      </p:sp>
      <p:sp>
        <p:nvSpPr>
          <p:cNvPr id="2" name="Rectangle 1">
            <a:extLst>
              <a:ext uri="{FF2B5EF4-FFF2-40B4-BE49-F238E27FC236}">
                <a16:creationId xmlns:a16="http://schemas.microsoft.com/office/drawing/2014/main" id="{B2E25BF1-5594-41B2-87BE-1997B5EFFDA5}"/>
              </a:ext>
            </a:extLst>
          </p:cNvPr>
          <p:cNvSpPr>
            <a:spLocks noGrp="1"/>
          </p:cNvSpPr>
          <p:nvPr/>
        </p:nvSpPr>
        <p:spPr>
          <a:xfrm>
            <a:off x="11334750" y="6381750"/>
            <a:ext cx="381000" cy="238125"/>
          </a:xfrm>
          <a:prstGeom prst="rect">
            <a:avLst/>
          </a:prstGeom>
          <a:noFill/>
          <a:ln w="0">
            <a:noFill/>
          </a:ln>
        </p:spPr>
        <p:txBody>
          <a:bodyPr>
            <a:noAutofit/>
          </a:bodyPr>
          <a:lstStyle/>
          <a:p>
            <a:pPr>
              <a:defRPr sz="1200" b="0">
                <a:solidFill>
                  <a:srgbClr val="687887"/>
                </a:solidFill>
                <a:latin typeface="Aptos"/>
                <a:ea typeface="Aptos"/>
                <a:cs typeface="Aptos"/>
              </a:defRPr>
            </a:pPr>
            <a:r>
              <a:rPr sz="1200" b="0">
                <a:solidFill>
                  <a:srgbClr val="687887"/>
                </a:solidFill>
                <a:latin typeface="Aptos"/>
                <a:ea typeface="Aptos"/>
                <a:cs typeface="Aptos"/>
              </a:rPr>
              <a:t>15</a:t>
            </a:r>
          </a:p>
        </p:txBody>
      </p:sp>
      <p:graphicFrame>
        <p:nvGraphicFramePr>
          <p:cNvPr id="7" name="Table 6"/>
          <p:cNvGraphicFramePr/>
          <p:nvPr/>
        </p:nvGraphicFramePr>
        <p:xfrm>
          <a:off x="762000" y="1381125"/>
          <a:ext cx="10668000" cy="3905250"/>
        </p:xfrm>
        <a:graphic>
          <a:graphicData uri="http://schemas.openxmlformats.org/drawingml/2006/table">
            <a:tbl>
              <a:tblPr/>
              <a:tblGrid>
                <a:gridCol w="3714750">
                  <a:extLst>
                    <a:ext uri="{9D8B030D-6E8A-4147-A177-3AD203B41FA5}">
                      <a16:colId xmlns:a16="http://schemas.microsoft.com/office/drawing/2014/main" val="20000"/>
                    </a:ext>
                  </a:extLst>
                </a:gridCol>
                <a:gridCol w="6953250">
                  <a:extLst>
                    <a:ext uri="{9D8B030D-6E8A-4147-A177-3AD203B41FA5}">
                      <a16:colId xmlns:a16="http://schemas.microsoft.com/office/drawing/2014/main" val="20001"/>
                    </a:ext>
                  </a:extLst>
                </a:gridCol>
              </a:tblGrid>
              <a:tr h="650875">
                <a:tc>
                  <a:txBody>
                    <a:bodyPr/>
                    <a:lstStyle/>
                    <a:p>
                      <a:r>
                        <a:rPr sz="1800" b="1">
                          <a:solidFill>
                            <a:srgbClr val="FFFFFF"/>
                          </a:solidFill>
                          <a:latin typeface="Aptos"/>
                          <a:ea typeface="Aptos"/>
                          <a:cs typeface="Aptos"/>
                        </a:rPr>
                        <a:t>Evaluation component</a:t>
                      </a:r>
                    </a:p>
                  </a:txBody>
                  <a:tcPr>
                    <a:solidFill>
                      <a:srgbClr val="172B45"/>
                    </a:solidFill>
                  </a:tcPr>
                </a:tc>
                <a:tc>
                  <a:txBody>
                    <a:bodyPr/>
                    <a:lstStyle/>
                    <a:p>
                      <a:r>
                        <a:rPr sz="1800" b="1">
                          <a:solidFill>
                            <a:srgbClr val="FFFFFF"/>
                          </a:solidFill>
                          <a:latin typeface="Aptos"/>
                          <a:ea typeface="Aptos"/>
                          <a:cs typeface="Aptos"/>
                        </a:rPr>
                        <a:t>Approach</a:t>
                      </a:r>
                    </a:p>
                  </a:txBody>
                  <a:tcPr>
                    <a:solidFill>
                      <a:srgbClr val="172B45"/>
                    </a:solidFill>
                  </a:tcPr>
                </a:tc>
                <a:extLst>
                  <a:ext uri="{0D108BD9-81ED-4DB2-BD59-A6C34878D82A}">
                    <a16:rowId xmlns:a16="http://schemas.microsoft.com/office/drawing/2014/main" val="10000"/>
                  </a:ext>
                </a:extLst>
              </a:tr>
              <a:tr h="650875">
                <a:tc>
                  <a:txBody>
                    <a:bodyPr/>
                    <a:lstStyle/>
                    <a:p>
                      <a:r>
                        <a:rPr sz="1800" b="0">
                          <a:solidFill>
                            <a:srgbClr val="172B45"/>
                          </a:solidFill>
                          <a:latin typeface="Aptos"/>
                          <a:ea typeface="Aptos"/>
                          <a:cs typeface="Aptos"/>
                        </a:rPr>
                        <a:t>Salary target</a:t>
                      </a:r>
                    </a:p>
                  </a:txBody>
                  <a:tcPr>
                    <a:solidFill>
                      <a:srgbClr val="F0F4F8"/>
                    </a:solidFill>
                  </a:tcPr>
                </a:tc>
                <a:tc>
                  <a:txBody>
                    <a:bodyPr/>
                    <a:lstStyle/>
                    <a:p>
                      <a:r>
                        <a:rPr sz="1800" b="0">
                          <a:solidFill>
                            <a:srgbClr val="172B45"/>
                          </a:solidFill>
                          <a:latin typeface="Aptos"/>
                          <a:ea typeface="Aptos"/>
                          <a:cs typeface="Aptos"/>
                        </a:rPr>
                        <a:t>Arithmetic midpoint of advertised salary bounds</a:t>
                      </a:r>
                    </a:p>
                  </a:txBody>
                  <a:tcPr>
                    <a:solidFill>
                      <a:srgbClr val="F0F4F8"/>
                    </a:solidFill>
                  </a:tcPr>
                </a:tc>
                <a:extLst>
                  <a:ext uri="{0D108BD9-81ED-4DB2-BD59-A6C34878D82A}">
                    <a16:rowId xmlns:a16="http://schemas.microsoft.com/office/drawing/2014/main" val="10001"/>
                  </a:ext>
                </a:extLst>
              </a:tr>
              <a:tr h="650875">
                <a:tc>
                  <a:txBody>
                    <a:bodyPr/>
                    <a:lstStyle/>
                    <a:p>
                      <a:r>
                        <a:rPr sz="1800" b="0">
                          <a:solidFill>
                            <a:srgbClr val="172B45"/>
                          </a:solidFill>
                          <a:latin typeface="Aptos"/>
                          <a:ea typeface="Aptos"/>
                          <a:cs typeface="Aptos"/>
                        </a:rPr>
                        <a:t>Predictors</a:t>
                      </a:r>
                    </a:p>
                  </a:txBody>
                  <a:tcPr>
                    <a:solidFill>
                      <a:srgbClr val="FFFFFF"/>
                    </a:solidFill>
                  </a:tcPr>
                </a:tc>
                <a:tc>
                  <a:txBody>
                    <a:bodyPr/>
                    <a:lstStyle/>
                    <a:p>
                      <a:r>
                        <a:rPr sz="1800" b="0">
                          <a:solidFill>
                            <a:srgbClr val="172B45"/>
                          </a:solidFill>
                          <a:latin typeface="Aptos"/>
                          <a:ea typeface="Aptos"/>
                          <a:cs typeface="Aptos"/>
                        </a:rPr>
                        <a:t>Experience, education, and 15 binary skill indicators</a:t>
                      </a:r>
                    </a:p>
                  </a:txBody>
                  <a:tcPr>
                    <a:solidFill>
                      <a:srgbClr val="FFFFFF"/>
                    </a:solidFill>
                  </a:tcPr>
                </a:tc>
                <a:extLst>
                  <a:ext uri="{0D108BD9-81ED-4DB2-BD59-A6C34878D82A}">
                    <a16:rowId xmlns:a16="http://schemas.microsoft.com/office/drawing/2014/main" val="10002"/>
                  </a:ext>
                </a:extLst>
              </a:tr>
              <a:tr h="650875">
                <a:tc>
                  <a:txBody>
                    <a:bodyPr/>
                    <a:lstStyle/>
                    <a:p>
                      <a:r>
                        <a:rPr sz="1800" b="0">
                          <a:solidFill>
                            <a:srgbClr val="172B45"/>
                          </a:solidFill>
                          <a:latin typeface="Aptos"/>
                          <a:ea typeface="Aptos"/>
                          <a:cs typeface="Aptos"/>
                        </a:rPr>
                        <a:t>Training and testing</a:t>
                      </a:r>
                    </a:p>
                  </a:txBody>
                  <a:tcPr>
                    <a:solidFill>
                      <a:srgbClr val="F0F4F8"/>
                    </a:solidFill>
                  </a:tcPr>
                </a:tc>
                <a:tc>
                  <a:txBody>
                    <a:bodyPr/>
                    <a:lstStyle/>
                    <a:p>
                      <a:r>
                        <a:rPr sz="1800" b="0">
                          <a:solidFill>
                            <a:srgbClr val="172B45"/>
                          </a:solidFill>
                          <a:latin typeface="Aptos"/>
                          <a:ea typeface="Aptos"/>
                          <a:cs typeface="Aptos"/>
                        </a:rPr>
                        <a:t>80/20 split, seed 42, five-fold training cross-validation</a:t>
                      </a:r>
                    </a:p>
                  </a:txBody>
                  <a:tcPr>
                    <a:solidFill>
                      <a:srgbClr val="F0F4F8"/>
                    </a:solidFill>
                  </a:tcPr>
                </a:tc>
                <a:extLst>
                  <a:ext uri="{0D108BD9-81ED-4DB2-BD59-A6C34878D82A}">
                    <a16:rowId xmlns:a16="http://schemas.microsoft.com/office/drawing/2014/main" val="10003"/>
                  </a:ext>
                </a:extLst>
              </a:tr>
              <a:tr h="650875">
                <a:tc>
                  <a:txBody>
                    <a:bodyPr/>
                    <a:lstStyle/>
                    <a:p>
                      <a:r>
                        <a:rPr sz="1800" b="0">
                          <a:solidFill>
                            <a:srgbClr val="172B45"/>
                          </a:solidFill>
                          <a:latin typeface="Aptos"/>
                          <a:ea typeface="Aptos"/>
                          <a:cs typeface="Aptos"/>
                        </a:rPr>
                        <a:t>Selected Random Forest</a:t>
                      </a:r>
                    </a:p>
                  </a:txBody>
                  <a:tcPr>
                    <a:solidFill>
                      <a:srgbClr val="FFFFFF"/>
                    </a:solidFill>
                  </a:tcPr>
                </a:tc>
                <a:tc>
                  <a:txBody>
                    <a:bodyPr/>
                    <a:lstStyle/>
                    <a:p>
                      <a:r>
                        <a:rPr sz="1800" b="0">
                          <a:solidFill>
                            <a:srgbClr val="172B45"/>
                          </a:solidFill>
                          <a:latin typeface="Aptos"/>
                          <a:ea typeface="Aptos"/>
                          <a:cs typeface="Aptos"/>
                        </a:rPr>
                        <a:t>150 trees, depth 8, minimum leaf 5, half of features</a:t>
                      </a:r>
                    </a:p>
                  </a:txBody>
                  <a:tcPr>
                    <a:solidFill>
                      <a:srgbClr val="FFFFFF"/>
                    </a:solidFill>
                  </a:tcPr>
                </a:tc>
                <a:extLst>
                  <a:ext uri="{0D108BD9-81ED-4DB2-BD59-A6C34878D82A}">
                    <a16:rowId xmlns:a16="http://schemas.microsoft.com/office/drawing/2014/main" val="10004"/>
                  </a:ext>
                </a:extLst>
              </a:tr>
              <a:tr h="650875">
                <a:tc>
                  <a:txBody>
                    <a:bodyPr/>
                    <a:lstStyle/>
                    <a:p>
                      <a:r>
                        <a:rPr sz="1800" b="0">
                          <a:solidFill>
                            <a:srgbClr val="172B45"/>
                          </a:solidFill>
                          <a:latin typeface="Aptos"/>
                          <a:ea typeface="Aptos"/>
                          <a:cs typeface="Aptos"/>
                        </a:rPr>
                        <a:t>Model comparison</a:t>
                      </a:r>
                    </a:p>
                  </a:txBody>
                  <a:tcPr>
                    <a:solidFill>
                      <a:srgbClr val="F0F4F8"/>
                    </a:solidFill>
                  </a:tcPr>
                </a:tc>
                <a:tc>
                  <a:txBody>
                    <a:bodyPr/>
                    <a:lstStyle/>
                    <a:p>
                      <a:r>
                        <a:rPr sz="1800" b="0">
                          <a:solidFill>
                            <a:srgbClr val="172B45"/>
                          </a:solidFill>
                          <a:latin typeface="Aptos"/>
                          <a:ea typeface="Aptos"/>
                          <a:cs typeface="Aptos"/>
                        </a:rPr>
                        <a:t>MAE, RMSE, and R² against a mean baseline</a:t>
                      </a:r>
                    </a:p>
                  </a:txBody>
                  <a:tcPr>
                    <a:solidFill>
                      <a:srgbClr val="F0F4F8"/>
                    </a:solidFill>
                  </a:tcPr>
                </a:tc>
                <a:extLst>
                  <a:ext uri="{0D108BD9-81ED-4DB2-BD59-A6C34878D82A}">
                    <a16:rowId xmlns:a16="http://schemas.microsoft.com/office/drawing/2014/main" val="10005"/>
                  </a:ext>
                </a:extLst>
              </a:tr>
            </a:tbl>
          </a:graphicData>
        </a:graphic>
      </p:graphicFrame>
      <p:sp>
        <p:nvSpPr>
          <p:cNvPr id="4" name="Rectangle 3">
            <a:extLst>
              <a:ext uri="{FF2B5EF4-FFF2-40B4-BE49-F238E27FC236}">
                <a16:creationId xmlns:a16="http://schemas.microsoft.com/office/drawing/2014/main" id="{911EF14C-B9F7-4080-92DF-D1C24B74B0CE}"/>
              </a:ext>
            </a:extLst>
          </p:cNvPr>
          <p:cNvSpPr>
            <a:spLocks noGrp="1"/>
          </p:cNvSpPr>
          <p:nvPr/>
        </p:nvSpPr>
        <p:spPr>
          <a:xfrm>
            <a:off x="762000" y="5867400"/>
            <a:ext cx="10477500" cy="447675"/>
          </a:xfrm>
          <a:prstGeom prst="rect">
            <a:avLst/>
          </a:prstGeom>
          <a:noFill/>
          <a:ln w="0">
            <a:noFill/>
          </a:ln>
        </p:spPr>
        <p:txBody>
          <a:bodyPr>
            <a:noAutofit/>
          </a:bodyPr>
          <a:lstStyle/>
          <a:p>
            <a:pPr>
              <a:defRPr sz="1350" b="0">
                <a:solidFill>
                  <a:srgbClr val="687887"/>
                </a:solidFill>
                <a:latin typeface="Aptos"/>
                <a:ea typeface="Aptos"/>
                <a:cs typeface="Aptos"/>
              </a:defRPr>
            </a:pPr>
            <a:r>
              <a:rPr sz="1350" b="0">
                <a:solidFill>
                  <a:srgbClr val="687887"/>
                </a:solidFill>
                <a:latin typeface="Aptos"/>
                <a:ea typeface="Aptos"/>
                <a:cs typeface="Aptos"/>
              </a:rPr>
              <a:t>All salary scores remain provisional. The feature set omits location, industry, title, and specialization.</a:t>
            </a:r>
          </a:p>
        </p:txBody>
      </p:sp>
    </p:spTree>
    <p:extLst>
      <p:ext uri="{BB962C8B-B14F-4D97-AF65-F5344CB8AC3E}">
        <p14:creationId xmlns:p14="http://schemas.microsoft.com/office/powerpoint/2010/main" val="380338603"/>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rotWithShape="1">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1218</Words>
  <Application>Microsoft Office PowerPoint</Application>
  <DocSecurity>0</DocSecurity>
  <PresentationFormat>Widescreen</PresentationFormat>
  <Paragraphs>170</Paragraphs>
  <Slides>15</Slides>
  <Notes>15</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15</vt:i4>
      </vt:variant>
    </vt:vector>
  </HeadingPairs>
  <TitlesOfParts>
    <vt:vector size="19" baseType="lpstr">
      <vt:lpstr>Aptos</vt:lpstr>
      <vt:lpstr>Aptos Display</vt:lpstr>
      <vt:lpstr>Arial</vt:lpstr>
      <vt:lpstr>Office Theme</vt:lpstr>
      <vt:lpstr>Problem statement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Bruno Sanchez</cp:lastModifiedBy>
  <cp:revision>1</cp:revision>
  <dcterms:created xsi:type="dcterms:W3CDTF">2026-10-01T21:53:40Z</dcterms:created>
  <dcterms:modified xsi:type="dcterms:W3CDTF">2026-10-01T22:04:18Z</dcterms:modified>
</cp:coreProperties>
</file>