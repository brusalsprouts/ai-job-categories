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buNone/>
    </a:defPPr>
    <a:lvl1pPr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2" d="100"/>
          <a:sy n="152" d="100"/>
        </p:scale>
        <p:origin x="604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Postings</c:v>
          </c:tx>
          <c:spPr>
            <a:solidFill>
              <a:srgbClr val="275F96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>
                    <a:latin typeface="Aptos"/>
                    <a:ea typeface="Aptos"/>
                    <a:cs typeface="Apto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Data'!$A$2:$A$8</c:f>
              <c:strCache>
                <c:ptCount val="7"/>
                <c:pt idx="0">
                  <c:v>Machine Learning</c:v>
                </c:pt>
                <c:pt idx="1">
                  <c:v>MLOps</c:v>
                </c:pt>
                <c:pt idx="2">
                  <c:v>Generative AI</c:v>
                </c:pt>
                <c:pt idx="3">
                  <c:v>NLP</c:v>
                </c:pt>
                <c:pt idx="4">
                  <c:v>Computer Vision</c:v>
                </c:pt>
                <c:pt idx="5">
                  <c:v>Deep Learning</c:v>
                </c:pt>
                <c:pt idx="6">
                  <c:v>Data Science</c:v>
                </c:pt>
              </c:strCache>
            </c:strRef>
          </c:cat>
          <c:val>
            <c:numRef>
              <c:f>'Chart Data'!$B$2:$B$8</c:f>
              <c:numCache>
                <c:formatCode>General</c:formatCode>
                <c:ptCount val="7"/>
                <c:pt idx="0">
                  <c:v>3245</c:v>
                </c:pt>
                <c:pt idx="1">
                  <c:v>1400</c:v>
                </c:pt>
                <c:pt idx="2">
                  <c:v>1300</c:v>
                </c:pt>
                <c:pt idx="3">
                  <c:v>950</c:v>
                </c:pt>
                <c:pt idx="4">
                  <c:v>950</c:v>
                </c:pt>
                <c:pt idx="5">
                  <c:v>500</c:v>
                </c:pt>
                <c:pt idx="6">
                  <c:v>425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3B4E-4B39-8286-29CAB18A3F73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  <a:endParaRPr lang="en-US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48650112"/>
        <c:crosses val="autoZero"/>
        <c:crossBetween val="between"/>
      </c:valAx>
    </c:plotArea>
    <c:plotVisOnly val="1"/>
    <c:dispBlanksAs val="zero"/>
    <c:showDLblsOverMax val="1"/>
  </c:chart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Final_Report.docx. Salary results remain provisional pending currency and geographic corrections.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Final_Report.docx, AI Job Salary Analysis, Bruno Sanchez Parra.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Final_Report.docx, AI Job Salary Analysis, Bruno Sanchez Parra.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Final_Report.docx, AI Job Salary Analysis, Bruno Sanchez Parra.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Final_Report.docx, AI Job Salary Analysis, Bruno Sanchez Parra.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Final_Report.docx, AI Job Salary Analysis, Bruno Sanchez Parra.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Final_Report.docx, AI Job Salary Analysis, Bruno Sanchez Parra.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Final_Report.docx, AI Job Salary Analysis, Bruno Sanchez Parra.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Final_Report.docx, AI Job Salary Analysis, Bruno Sanchez Parra.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Final_Report.docx, AI Job Salary Analysis, Bruno Sanchez Parra.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Final_Report.docx, AI Job Salary Analysis, Bruno Sanchez Parra.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Final_Report.docx, AI Job Salary Analysis, Bruno Sanchez Parra.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Final_Report.docx, AI Job Salary Analysis, Bruno Sanchez Parra.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Final_Report.docx, AI Job Salary Analysis, Bruno Sanchez Parra.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Final_Report.docx, AI Job Salary Analysis, Bruno Sanchez Parra.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81F9C-F117-9D27-A671-80E828999A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buNone/>
              <a:defRPr sz="60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CC9EB56-0B8D-6892-A5C8-7A2948BDE2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5A4015-A348-EE7E-267A-C83344BB750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61C7EFC4-DD65-40CB-B951-0945CF071A29}" type="datetimeFigureOut">
              <a:t>10/1/2026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D85548-5235-C6BC-4023-45A401FA425B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96A08A-4D86-911F-9C7D-6CD5C55EF0E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9452003C-2E18-4F05-A4C9-AD7C844592E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691A16-1256-DEF6-FF2D-366B7339C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1898AA-744A-8965-6F2A-299DF9F01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9F1CF9-48F2-3E82-2CA5-11F9DFFF616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61C7EFC4-DD65-40CB-B951-0945CF071A29}" type="datetimeFigureOut">
              <a:t>10/1/2026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2F2FF3-E159-DF8F-A368-0444934DFAA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69C588-F800-7077-6424-4ED506FD3AA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9452003C-2E18-4F05-A4C9-AD7C844592E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3F0A7D-E3C0-C967-3FB4-43B4891632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buNone/>
              <a:defRPr sz="60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67F04F-8051-7453-58F7-53056EBEC5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DC6ED6-4052-8769-8145-8006870C31D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61C7EFC4-DD65-40CB-B951-0945CF071A29}" type="datetimeFigureOut">
              <a:t>10/1/2026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411841-1F1F-F984-D6BE-67CE4A3D42A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48B72E-9E25-A69B-72D0-A5A4FE93DBF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9452003C-2E18-4F05-A4C9-AD7C844592E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90617E-CDAD-8D5E-30D4-515A0701B4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63EFEA-F470-7E88-4E17-DA11A6C003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97C8D4-C3D4-D5A3-53F5-D3A2FB641EC9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56274C-094C-0FDA-3EA3-874ABEC8441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61C7EFC4-DD65-40CB-B951-0945CF071A29}" type="datetimeFigureOut">
              <a:t>10/1/2026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7AB675-55CE-CB84-09EC-82D1EB6114D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E37373-3F77-6E38-E4A0-8F9C6940606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9452003C-2E18-4F05-A4C9-AD7C844592E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F9DFB5-BD92-97BF-7B72-14CD29726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1733D7-CAD7-A084-F5EF-5F6D4F3E20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056B47A-6297-186A-86FD-68D12B4C3D47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599195-1861-B5E5-6661-80BDA381CECB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38DE431-C075-349C-0F35-8C60020B7C49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2CB9AEB-04D1-0B93-C204-F4E090A011CB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61C7EFC4-DD65-40CB-B951-0945CF071A29}" type="datetimeFigureOut">
              <a:t>10/1/2026</a:t>
            </a:fld>
            <a:endParaRPr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A3DCF9F-CAE6-67C5-E911-416217726DBC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DA3059A-471C-59CF-82CD-A16216650AA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9452003C-2E18-4F05-A4C9-AD7C844592E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528CCE-A6F2-3896-86B8-ECB28BE5CF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C75221D-AC0B-27E7-1369-BCED602434AB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61C7EFC4-DD65-40CB-B951-0945CF071A29}" type="datetimeFigureOut">
              <a:t>10/1/2026</a:t>
            </a:fld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49730D-6267-6BFE-E123-36EA8CEB723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DA5AE9-3285-A32C-597C-06881398FD5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9452003C-2E18-4F05-A4C9-AD7C844592E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F701E63-D9CA-191F-6A60-F9A05BF9E88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61C7EFC4-DD65-40CB-B951-0945CF071A29}" type="datetimeFigureOut">
              <a:t>10/1/2026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58D2D9-D70C-EBC1-7210-44E08E9672C1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056C99-AE9D-F54D-D3D7-FA3BA96DA45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9452003C-2E18-4F05-A4C9-AD7C844592E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8B8A26-58AA-41AD-1FC3-24B350EE89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7DF10B-7664-BFD7-4AAB-FD29167608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7B4394-A7A6-4BDD-2ADB-D85FF3A5D575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D525AF-F88E-B29D-4CEC-51694F10E46A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61C7EFC4-DD65-40CB-B951-0945CF071A29}" type="datetimeFigureOut">
              <a:t>10/1/2026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AB2F28-4DB3-7913-83F9-D56CC6AC16A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1CC732-12E0-9C46-3886-72C95391DF7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9452003C-2E18-4F05-A4C9-AD7C844592E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68744-BDCC-4AFD-9AFE-45AEB1BF1F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C15E953-FCB4-FD20-47F2-202A0FEF565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67C040-4016-8CDD-48B9-ED2BC79A13BC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7887E2-D838-3CDB-EC14-E6C5206A97E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61C7EFC4-DD65-40CB-B951-0945CF071A29}" type="datetimeFigureOut">
              <a:t>10/1/2026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CFD20C8-41E3-2FCC-7DE6-7A07819FF2AB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D272ED-FA55-6FFC-A2AB-DCF44A2E0FB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9452003C-2E18-4F05-A4C9-AD7C844592E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E5BEDE-CF61-F52A-0FE6-07BE573D4B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4C94E85-E7C8-C522-09F5-197C1C8A50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F41BC0-260B-3E46-A656-848979EDC73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61C7EFC4-DD65-40CB-B951-0945CF071A29}" type="datetimeFigureOut">
              <a:t>10/1/2026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995DED-B5BC-C7B4-61EC-78A5BB67D99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20934C-0950-A886-4069-2F9A802DE2A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9452003C-2E18-4F05-A4C9-AD7C844592E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3AA1AB6-7B62-BA67-B3B1-0A53EDFB7D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A963638-A2FA-1A2E-0DA3-699FD40AAA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90090D-4261-5137-75F1-4E0EF76159C6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61C7EFC4-DD65-40CB-B951-0945CF071A29}" type="datetimeFigureOut">
              <a:t>10/1/2026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608E9B-E226-3B28-A8B2-A7C9511768A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7B6F5D-24F9-D35D-C431-DEF88036693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9452003C-2E18-4F05-A4C9-AD7C844592E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EC22BA-EC9E-F619-65A1-856289EA2A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7BF393-B6D1-AF1C-C18E-418AC361E0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56A2EF-AC8A-3AB5-0DD4-30856878F449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1C7EFC4-DD65-40CB-B951-0945CF071A29}" type="datetimeFigureOut">
              <a:t>10/1/2026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B37B15-05CD-ED42-71F8-921D6EB2FEB8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A75C69-8378-32E4-7E66-942A934CC87A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452003C-2E18-4F05-A4C9-AD7C844592EE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76054E-6BDC-5965-777B-8E5A146AF99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b="1"/>
              <a:t>AI Jobs Project</a:t>
            </a:r>
            <a:endParaRPr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E47AFC6-C82A-2922-535F-D3662ED622F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Job characteristics and salary analysis</a:t>
            </a:r>
          </a:p>
          <a:p>
            <a:r>
              <a:t>Bruno Sanchez Parra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92EF678-CD2D-49EC-AA67-9BC9C99656D0}"/>
              </a:ext>
            </a:extLst>
          </p:cNvPr>
          <p:cNvSpPr>
            <a:spLocks noGrp="1"/>
          </p:cNvSpPr>
          <p:nvPr/>
        </p:nvSpPr>
        <p:spPr>
          <a:xfrm>
            <a:off x="2286000" y="5143500"/>
            <a:ext cx="7620000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50" b="0">
                <a:solidFill>
                  <a:srgbClr val="687887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687887"/>
                </a:solidFill>
                <a:latin typeface="Aptos"/>
                <a:ea typeface="Aptos"/>
                <a:cs typeface="Aptos"/>
              </a:rPr>
              <a:t>Findings from U.S. and Canadian job postings</a:t>
            </a:r>
          </a:p>
        </p:txBody>
      </p:sp>
    </p:spTree>
    <p:extLst>
      <p:ext uri="{BB962C8B-B14F-4D97-AF65-F5344CB8AC3E}">
        <p14:creationId xmlns:p14="http://schemas.microsoft.com/office/powerpoint/2010/main" val="22387622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A40F97ED-DCA6-4C89-B31F-C3BD581C92B1}"/>
              </a:ext>
            </a:extLst>
          </p:cNvPr>
          <p:cNvSpPr>
            <a:spLocks noGrp="1"/>
          </p:cNvSpPr>
          <p:nvPr/>
        </p:nvSpPr>
        <p:spPr>
          <a:xfrm>
            <a:off x="666750" y="428625"/>
            <a:ext cx="1085850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2B45"/>
                </a:solidFill>
                <a:latin typeface="Aptos"/>
                <a:ea typeface="Aptos"/>
                <a:cs typeface="Aptos"/>
              </a:defRPr>
            </a:pPr>
            <a:r>
              <a:rPr sz="3150" b="1" dirty="0">
                <a:solidFill>
                  <a:srgbClr val="172B45"/>
                </a:solidFill>
                <a:latin typeface="Aptos"/>
                <a:ea typeface="Aptos"/>
                <a:cs typeface="Aptos"/>
              </a:rPr>
              <a:t>Project question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FAD25D5-C812-4EAD-AF45-AD6595ABF63C}"/>
              </a:ext>
            </a:extLst>
          </p:cNvPr>
          <p:cNvSpPr>
            <a:spLocks noGrp="1"/>
          </p:cNvSpPr>
          <p:nvPr/>
        </p:nvSpPr>
        <p:spPr>
          <a:xfrm>
            <a:off x="11334750" y="6381750"/>
            <a:ext cx="381000" cy="238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68788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87887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49CAAC0-23C2-437A-BAB7-F918DFFE06F0}"/>
              </a:ext>
            </a:extLst>
          </p:cNvPr>
          <p:cNvSpPr>
            <a:spLocks noGrp="1"/>
          </p:cNvSpPr>
          <p:nvPr/>
        </p:nvSpPr>
        <p:spPr>
          <a:xfrm>
            <a:off x="762000" y="1571625"/>
            <a:ext cx="1057275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0">
                <a:solidFill>
                  <a:srgbClr val="172B45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72B45"/>
                </a:solidFill>
                <a:latin typeface="Aptos"/>
                <a:ea typeface="Aptos"/>
                <a:cs typeface="Aptos"/>
              </a:rPr>
              <a:t>Overlapping AI job titles make roles difficult to compare.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F656F19-A9A1-4566-9DA3-90457951A792}"/>
              </a:ext>
            </a:extLst>
          </p:cNvPr>
          <p:cNvSpPr>
            <a:spLocks noGrp="1"/>
          </p:cNvSpPr>
          <p:nvPr/>
        </p:nvSpPr>
        <p:spPr>
          <a:xfrm>
            <a:off x="762000" y="2571750"/>
            <a:ext cx="1057275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0">
                <a:solidFill>
                  <a:srgbClr val="172B45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72B45"/>
                </a:solidFill>
                <a:latin typeface="Aptos"/>
                <a:ea typeface="Aptos"/>
                <a:cs typeface="Aptos"/>
              </a:rPr>
              <a:t>This project compares skill profiles, experience requirements, work arrangements, and salary expectations.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7A89C72-60AC-465C-8684-1723E8826F6A}"/>
              </a:ext>
            </a:extLst>
          </p:cNvPr>
          <p:cNvSpPr>
            <a:spLocks noGrp="1"/>
          </p:cNvSpPr>
          <p:nvPr/>
        </p:nvSpPr>
        <p:spPr>
          <a:xfrm>
            <a:off x="762000" y="3571875"/>
            <a:ext cx="1057275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0">
                <a:solidFill>
                  <a:srgbClr val="172B45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72B45"/>
                </a:solidFill>
                <a:latin typeface="Aptos"/>
                <a:ea typeface="Aptos"/>
                <a:cs typeface="Aptos"/>
              </a:rPr>
              <a:t>The analysis uses existing specialization labels to describe meaningful differences between roles.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C306181-D178-41D4-9131-5BB6919A31E8}"/>
              </a:ext>
            </a:extLst>
          </p:cNvPr>
          <p:cNvSpPr>
            <a:spLocks noGrp="1"/>
          </p:cNvSpPr>
          <p:nvPr/>
        </p:nvSpPr>
        <p:spPr>
          <a:xfrm>
            <a:off x="762000" y="5867400"/>
            <a:ext cx="10477500" cy="4476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68788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87887"/>
                </a:solidFill>
                <a:latin typeface="Aptos"/>
                <a:ea typeface="Aptos"/>
                <a:cs typeface="Aptos"/>
              </a:rPr>
              <a:t>Descriptive findings reflect this dataset, rather than the entire AI job market.</a:t>
            </a:r>
          </a:p>
        </p:txBody>
      </p:sp>
    </p:spTree>
    <p:extLst>
      <p:ext uri="{BB962C8B-B14F-4D97-AF65-F5344CB8AC3E}">
        <p14:creationId xmlns:p14="http://schemas.microsoft.com/office/powerpoint/2010/main" val="17351923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F849D7D-0812-444B-910C-A583DAE3E325}"/>
              </a:ext>
            </a:extLst>
          </p:cNvPr>
          <p:cNvSpPr>
            <a:spLocks noGrp="1"/>
          </p:cNvSpPr>
          <p:nvPr/>
        </p:nvSpPr>
        <p:spPr>
          <a:xfrm>
            <a:off x="666750" y="428625"/>
            <a:ext cx="1085850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2B45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172B45"/>
                </a:solidFill>
                <a:latin typeface="Aptos"/>
                <a:ea typeface="Aptos"/>
                <a:cs typeface="Aptos"/>
              </a:rPr>
              <a:t>Dataset and geographic scope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437EB76-2686-4813-AB56-682F72B4C0AE}"/>
              </a:ext>
            </a:extLst>
          </p:cNvPr>
          <p:cNvSpPr>
            <a:spLocks noGrp="1"/>
          </p:cNvSpPr>
          <p:nvPr/>
        </p:nvSpPr>
        <p:spPr>
          <a:xfrm>
            <a:off x="11334750" y="6381750"/>
            <a:ext cx="381000" cy="238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68788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87887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graphicFrame>
        <p:nvGraphicFramePr>
          <p:cNvPr id="7" name="Table 6"/>
          <p:cNvGraphicFramePr/>
          <p:nvPr/>
        </p:nvGraphicFramePr>
        <p:xfrm>
          <a:off x="762000" y="1524000"/>
          <a:ext cx="10668000" cy="3714750"/>
        </p:xfrm>
        <a:graphic>
          <a:graphicData uri="http://schemas.openxmlformats.org/drawingml/2006/table">
            <a:tbl>
              <a:tblPr/>
              <a:tblGrid>
                <a:gridCol w="45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91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429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Stage</a:t>
                      </a:r>
                    </a:p>
                  </a:txBody>
                  <a:tcPr>
                    <a:solidFill>
                      <a:srgbClr val="172B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Postings</a:t>
                      </a:r>
                    </a:p>
                  </a:txBody>
                  <a:tcPr>
                    <a:solidFill>
                      <a:srgbClr val="172B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Scope</a:t>
                      </a:r>
                    </a:p>
                  </a:txBody>
                  <a:tcPr>
                    <a:solidFill>
                      <a:srgbClr val="172B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29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B45"/>
                          </a:solidFill>
                          <a:latin typeface="Aptos"/>
                          <a:ea typeface="Aptos"/>
                          <a:cs typeface="Aptos"/>
                        </a:rPr>
                        <a:t>Original organized dataset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B45"/>
                          </a:solidFill>
                          <a:latin typeface="Aptos"/>
                          <a:ea typeface="Aptos"/>
                          <a:cs typeface="Aptos"/>
                        </a:rPr>
                        <a:t>51,932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B45"/>
                          </a:solidFill>
                          <a:latin typeface="Aptos"/>
                          <a:ea typeface="Aptos"/>
                          <a:cs typeface="Aptos"/>
                        </a:rPr>
                        <a:t>22 variables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29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B45"/>
                          </a:solidFill>
                          <a:latin typeface="Aptos"/>
                          <a:ea typeface="Aptos"/>
                          <a:cs typeface="Aptos"/>
                        </a:rPr>
                        <a:t>After rare-industry exclusions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B45"/>
                          </a:solidFill>
                          <a:latin typeface="Aptos"/>
                          <a:ea typeface="Aptos"/>
                          <a:cs typeface="Aptos"/>
                        </a:rPr>
                        <a:t>51,929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B45"/>
                          </a:solidFill>
                          <a:latin typeface="Aptos"/>
                          <a:ea typeface="Aptos"/>
                          <a:cs typeface="Aptos"/>
                        </a:rPr>
                        <a:t>Three categories removed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29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B45"/>
                          </a:solidFill>
                          <a:latin typeface="Aptos"/>
                          <a:ea typeface="Aptos"/>
                          <a:cs typeface="Aptos"/>
                        </a:rPr>
                        <a:t>Country-filtered analysis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B45"/>
                          </a:solidFill>
                          <a:latin typeface="Aptos"/>
                          <a:ea typeface="Aptos"/>
                          <a:cs typeface="Aptos"/>
                        </a:rPr>
                        <a:t>8,766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B45"/>
                          </a:solidFill>
                          <a:latin typeface="Aptos"/>
                          <a:ea typeface="Aptos"/>
                          <a:cs typeface="Aptos"/>
                        </a:rPr>
                        <a:t>United States and Canada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29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B45"/>
                          </a:solidFill>
                          <a:latin typeface="Aptos"/>
                          <a:ea typeface="Aptos"/>
                          <a:cs typeface="Aptos"/>
                        </a:rPr>
                        <a:t>Popular-title comparisons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B45"/>
                          </a:solidFill>
                          <a:latin typeface="Aptos"/>
                          <a:ea typeface="Aptos"/>
                          <a:cs typeface="Aptos"/>
                        </a:rPr>
                        <a:t>8,741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B45"/>
                          </a:solidFill>
                          <a:latin typeface="Aptos"/>
                          <a:ea typeface="Aptos"/>
                          <a:cs typeface="Aptos"/>
                        </a:rPr>
                        <a:t>19 titles with &gt;100 postings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483328F9-A372-4F84-B73C-DA8D5A89D02E}"/>
              </a:ext>
            </a:extLst>
          </p:cNvPr>
          <p:cNvSpPr>
            <a:spLocks noGrp="1"/>
          </p:cNvSpPr>
          <p:nvPr/>
        </p:nvSpPr>
        <p:spPr>
          <a:xfrm>
            <a:off x="762000" y="5867400"/>
            <a:ext cx="10477500" cy="4476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68788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87887"/>
                </a:solidFill>
                <a:latin typeface="Aptos"/>
                <a:ea typeface="Aptos"/>
                <a:cs typeface="Aptos"/>
              </a:rPr>
              <a:t>4,370 U.S. postings and 4,396 Canadian postings. No Mexican records survived the filter.</a:t>
            </a:r>
          </a:p>
        </p:txBody>
      </p:sp>
    </p:spTree>
    <p:extLst>
      <p:ext uri="{BB962C8B-B14F-4D97-AF65-F5344CB8AC3E}">
        <p14:creationId xmlns:p14="http://schemas.microsoft.com/office/powerpoint/2010/main" val="14190082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B372A4FB-2D60-4107-BCA6-70A79A61BB49}"/>
              </a:ext>
            </a:extLst>
          </p:cNvPr>
          <p:cNvSpPr>
            <a:spLocks noGrp="1"/>
          </p:cNvSpPr>
          <p:nvPr/>
        </p:nvSpPr>
        <p:spPr>
          <a:xfrm>
            <a:off x="666750" y="428625"/>
            <a:ext cx="1085850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2B45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172B45"/>
                </a:solidFill>
                <a:latin typeface="Aptos"/>
                <a:ea typeface="Aptos"/>
                <a:cs typeface="Aptos"/>
              </a:rPr>
              <a:t>Data preparation and salary target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857FE0B-242C-42A9-97CC-B97131E9608B}"/>
              </a:ext>
            </a:extLst>
          </p:cNvPr>
          <p:cNvSpPr>
            <a:spLocks noGrp="1"/>
          </p:cNvSpPr>
          <p:nvPr/>
        </p:nvSpPr>
        <p:spPr>
          <a:xfrm>
            <a:off x="11334750" y="6381750"/>
            <a:ext cx="381000" cy="238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68788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87887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C40D42B-4EB3-4949-B4BB-5926EF079CA3}"/>
              </a:ext>
            </a:extLst>
          </p:cNvPr>
          <p:cNvSpPr>
            <a:spLocks noGrp="1"/>
          </p:cNvSpPr>
          <p:nvPr/>
        </p:nvSpPr>
        <p:spPr>
          <a:xfrm>
            <a:off x="762000" y="1571625"/>
            <a:ext cx="1057275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0">
                <a:solidFill>
                  <a:srgbClr val="172B45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72B45"/>
                </a:solidFill>
                <a:latin typeface="Aptos"/>
                <a:ea typeface="Aptos"/>
                <a:cs typeface="Aptos"/>
              </a:rPr>
              <a:t>Checks found no missing values or exact duplicate rows. Similar postings may still represent the same vacancy.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773A89B-AD48-4740-8954-E19836157152}"/>
              </a:ext>
            </a:extLst>
          </p:cNvPr>
          <p:cNvSpPr>
            <a:spLocks noGrp="1"/>
          </p:cNvSpPr>
          <p:nvPr/>
        </p:nvSpPr>
        <p:spPr>
          <a:xfrm>
            <a:off x="762000" y="2571750"/>
            <a:ext cx="1057275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0">
                <a:solidFill>
                  <a:srgbClr val="172B45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72B45"/>
                </a:solidFill>
                <a:latin typeface="Aptos"/>
                <a:ea typeface="Aptos"/>
                <a:cs typeface="Aptos"/>
              </a:rPr>
              <a:t>Company-size and education labels were consolidated. “Master’s or PhD” became a master’s category.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0863B0F-12B9-4AA7-AFC1-FCE0464F1DCF}"/>
              </a:ext>
            </a:extLst>
          </p:cNvPr>
          <p:cNvSpPr>
            <a:spLocks noGrp="1"/>
          </p:cNvSpPr>
          <p:nvPr/>
        </p:nvSpPr>
        <p:spPr>
          <a:xfrm>
            <a:off x="762000" y="3571875"/>
            <a:ext cx="1057275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0">
                <a:solidFill>
                  <a:srgbClr val="172B45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72B45"/>
                </a:solidFill>
                <a:latin typeface="Aptos"/>
                <a:ea typeface="Aptos"/>
                <a:cs typeface="Aptos"/>
              </a:rPr>
              <a:t>Salary target = (lower bound + upper bound) / 2. This is the posted range midpoint.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A291531-BE5F-4882-8ED4-3204A18ED8FB}"/>
              </a:ext>
            </a:extLst>
          </p:cNvPr>
          <p:cNvSpPr>
            <a:spLocks noGrp="1"/>
          </p:cNvSpPr>
          <p:nvPr/>
        </p:nvSpPr>
        <p:spPr>
          <a:xfrm>
            <a:off x="762000" y="5867400"/>
            <a:ext cx="10477500" cy="4476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68788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87887"/>
                </a:solidFill>
                <a:latin typeface="Aptos"/>
                <a:ea typeface="Aptos"/>
                <a:cs typeface="Aptos"/>
              </a:rPr>
              <a:t>The target does not measure employee median pay, accepted offers, or total compensation.</a:t>
            </a:r>
          </a:p>
        </p:txBody>
      </p:sp>
    </p:spTree>
    <p:extLst>
      <p:ext uri="{BB962C8B-B14F-4D97-AF65-F5344CB8AC3E}">
        <p14:creationId xmlns:p14="http://schemas.microsoft.com/office/powerpoint/2010/main" val="2971372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F294D90-DF89-43CB-BA60-712F41219F13}"/>
              </a:ext>
            </a:extLst>
          </p:cNvPr>
          <p:cNvSpPr>
            <a:spLocks noGrp="1"/>
          </p:cNvSpPr>
          <p:nvPr/>
        </p:nvSpPr>
        <p:spPr>
          <a:xfrm>
            <a:off x="666750" y="428625"/>
            <a:ext cx="1085850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2B45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172B45"/>
                </a:solidFill>
                <a:latin typeface="Aptos"/>
                <a:ea typeface="Aptos"/>
                <a:cs typeface="Aptos"/>
              </a:rPr>
              <a:t>Machine Learning is the largest specialization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909B102-F4B2-4A0A-B4DA-8D0BC50068CD}"/>
              </a:ext>
            </a:extLst>
          </p:cNvPr>
          <p:cNvSpPr>
            <a:spLocks noGrp="1"/>
          </p:cNvSpPr>
          <p:nvPr/>
        </p:nvSpPr>
        <p:spPr>
          <a:xfrm>
            <a:off x="11334750" y="6381750"/>
            <a:ext cx="381000" cy="238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68788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87887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graphicFrame>
        <p:nvGraphicFramePr>
          <p:cNvPr id="7" name="Chart"/>
          <p:cNvGraphicFramePr/>
          <p:nvPr/>
        </p:nvGraphicFramePr>
        <p:xfrm>
          <a:off x="762000" y="1476375"/>
          <a:ext cx="10668000" cy="39528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2F84BFEA-1560-4A58-AFFD-59E32527E7AA}"/>
              </a:ext>
            </a:extLst>
          </p:cNvPr>
          <p:cNvSpPr>
            <a:spLocks noGrp="1"/>
          </p:cNvSpPr>
          <p:nvPr/>
        </p:nvSpPr>
        <p:spPr>
          <a:xfrm>
            <a:off x="762000" y="5867400"/>
            <a:ext cx="10477500" cy="4476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68788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87887"/>
                </a:solidFill>
                <a:latin typeface="Aptos"/>
                <a:ea typeface="Aptos"/>
                <a:cs typeface="Aptos"/>
              </a:rPr>
              <a:t>Counts other than Machine Learning are approximate values reported in the document.</a:t>
            </a:r>
          </a:p>
        </p:txBody>
      </p:sp>
    </p:spTree>
    <p:extLst>
      <p:ext uri="{BB962C8B-B14F-4D97-AF65-F5344CB8AC3E}">
        <p14:creationId xmlns:p14="http://schemas.microsoft.com/office/powerpoint/2010/main" val="21164639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44547653-D0ED-43A1-91AA-50E7673C0C0F}"/>
              </a:ext>
            </a:extLst>
          </p:cNvPr>
          <p:cNvSpPr>
            <a:spLocks noGrp="1"/>
          </p:cNvSpPr>
          <p:nvPr/>
        </p:nvSpPr>
        <p:spPr>
          <a:xfrm>
            <a:off x="666750" y="428625"/>
            <a:ext cx="1085850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2B45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172B45"/>
                </a:solidFill>
                <a:latin typeface="Aptos"/>
                <a:ea typeface="Aptos"/>
                <a:cs typeface="Aptos"/>
              </a:rPr>
              <a:t>Typical posting characteristics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42BDA53-56EE-4115-9836-846DB247524D}"/>
              </a:ext>
            </a:extLst>
          </p:cNvPr>
          <p:cNvSpPr>
            <a:spLocks noGrp="1"/>
          </p:cNvSpPr>
          <p:nvPr/>
        </p:nvSpPr>
        <p:spPr>
          <a:xfrm>
            <a:off x="11334750" y="6381750"/>
            <a:ext cx="381000" cy="238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68788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87887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graphicFrame>
        <p:nvGraphicFramePr>
          <p:cNvPr id="8" name="Table 7"/>
          <p:cNvGraphicFramePr/>
          <p:nvPr/>
        </p:nvGraphicFramePr>
        <p:xfrm>
          <a:off x="762000" y="1619250"/>
          <a:ext cx="10668000" cy="2857500"/>
        </p:xfrm>
        <a:graphic>
          <a:graphicData uri="http://schemas.openxmlformats.org/drawingml/2006/table">
            <a:tbl>
              <a:tblPr/>
              <a:tblGrid>
                <a:gridCol w="342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2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1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14375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Dimension</a:t>
                      </a:r>
                    </a:p>
                  </a:txBody>
                  <a:tcPr>
                    <a:solidFill>
                      <a:srgbClr val="172B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Largest group</a:t>
                      </a:r>
                    </a:p>
                  </a:txBody>
                  <a:tcPr>
                    <a:solidFill>
                      <a:srgbClr val="172B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Reported size</a:t>
                      </a:r>
                    </a:p>
                  </a:txBody>
                  <a:tcPr>
                    <a:solidFill>
                      <a:srgbClr val="172B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4375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2B45"/>
                          </a:solidFill>
                          <a:latin typeface="Aptos"/>
                          <a:ea typeface="Aptos"/>
                          <a:cs typeface="Aptos"/>
                        </a:rPr>
                        <a:t>Experience level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2B45"/>
                          </a:solidFill>
                          <a:latin typeface="Aptos"/>
                          <a:ea typeface="Aptos"/>
                          <a:cs typeface="Aptos"/>
                        </a:rPr>
                        <a:t>Mid-level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2B45"/>
                          </a:solidFill>
                          <a:latin typeface="Aptos"/>
                          <a:ea typeface="Aptos"/>
                          <a:cs typeface="Aptos"/>
                        </a:rPr>
                        <a:t>About half of postings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4375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2B45"/>
                          </a:solidFill>
                          <a:latin typeface="Aptos"/>
                          <a:ea typeface="Aptos"/>
                          <a:cs typeface="Aptos"/>
                        </a:rPr>
                        <a:t>Work arrangement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2B45"/>
                          </a:solidFill>
                          <a:latin typeface="Aptos"/>
                          <a:ea typeface="Aptos"/>
                          <a:cs typeface="Aptos"/>
                        </a:rPr>
                        <a:t>Remote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2B45"/>
                          </a:solidFill>
                          <a:latin typeface="Aptos"/>
                          <a:ea typeface="Aptos"/>
                          <a:cs typeface="Aptos"/>
                        </a:rPr>
                        <a:t>About 4,000 postings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4375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2B45"/>
                          </a:solidFill>
                          <a:latin typeface="Aptos"/>
                          <a:ea typeface="Aptos"/>
                          <a:cs typeface="Aptos"/>
                        </a:rPr>
                        <a:t>Employment type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2B45"/>
                          </a:solidFill>
                          <a:latin typeface="Aptos"/>
                          <a:ea typeface="Aptos"/>
                          <a:cs typeface="Aptos"/>
                        </a:rPr>
                        <a:t>Full-time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2B45"/>
                          </a:solidFill>
                          <a:latin typeface="Aptos"/>
                          <a:ea typeface="Aptos"/>
                          <a:cs typeface="Aptos"/>
                        </a:rPr>
                        <a:t>About 7,500 postings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457E414F-A8B0-4292-966C-6338C9DF0BF0}"/>
              </a:ext>
            </a:extLst>
          </p:cNvPr>
          <p:cNvSpPr>
            <a:spLocks noGrp="1"/>
          </p:cNvSpPr>
          <p:nvPr/>
        </p:nvSpPr>
        <p:spPr>
          <a:xfrm>
            <a:off x="762000" y="4857750"/>
            <a:ext cx="104775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25" b="0">
                <a:solidFill>
                  <a:srgbClr val="172B45"/>
                </a:solidFill>
                <a:latin typeface="Aptos"/>
                <a:ea typeface="Aptos"/>
                <a:cs typeface="Aptos"/>
              </a:defRPr>
            </a:pPr>
            <a:r>
              <a:rPr sz="2025" b="0">
                <a:solidFill>
                  <a:srgbClr val="172B45"/>
                </a:solidFill>
                <a:latin typeface="Aptos"/>
                <a:ea typeface="Aptos"/>
                <a:cs typeface="Aptos"/>
              </a:rPr>
              <a:t>Industry counts were relatively similar across the ten retained industries.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ECE4D17-2FC0-49A7-AD48-AD117A9DC600}"/>
              </a:ext>
            </a:extLst>
          </p:cNvPr>
          <p:cNvSpPr>
            <a:spLocks noGrp="1"/>
          </p:cNvSpPr>
          <p:nvPr/>
        </p:nvSpPr>
        <p:spPr>
          <a:xfrm>
            <a:off x="762000" y="5867400"/>
            <a:ext cx="10477500" cy="4476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68788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87887"/>
                </a:solidFill>
                <a:latin typeface="Aptos"/>
                <a:ea typeface="Aptos"/>
                <a:cs typeface="Aptos"/>
              </a:rPr>
              <a:t>Rounded counts describe sample composition and do not estimate market-wide demand.</a:t>
            </a:r>
          </a:p>
        </p:txBody>
      </p:sp>
    </p:spTree>
    <p:extLst>
      <p:ext uri="{BB962C8B-B14F-4D97-AF65-F5344CB8AC3E}">
        <p14:creationId xmlns:p14="http://schemas.microsoft.com/office/powerpoint/2010/main" val="14416843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47BA7990-019A-48C5-BDA2-575A1854B91B}"/>
              </a:ext>
            </a:extLst>
          </p:cNvPr>
          <p:cNvSpPr>
            <a:spLocks noGrp="1"/>
          </p:cNvSpPr>
          <p:nvPr/>
        </p:nvSpPr>
        <p:spPr>
          <a:xfrm>
            <a:off x="666750" y="428625"/>
            <a:ext cx="1085850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2B45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172B45"/>
                </a:solidFill>
                <a:latin typeface="Aptos"/>
                <a:ea typeface="Aptos"/>
                <a:cs typeface="Aptos"/>
              </a:rPr>
              <a:t>Specializations have distinct skill profiles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3A14246-57E4-4BEB-BDA8-05D2FAF02DFE}"/>
              </a:ext>
            </a:extLst>
          </p:cNvPr>
          <p:cNvSpPr>
            <a:spLocks noGrp="1"/>
          </p:cNvSpPr>
          <p:nvPr/>
        </p:nvSpPr>
        <p:spPr>
          <a:xfrm>
            <a:off x="11334750" y="6381750"/>
            <a:ext cx="381000" cy="238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68788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87887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graphicFrame>
        <p:nvGraphicFramePr>
          <p:cNvPr id="7" name="Table 6"/>
          <p:cNvGraphicFramePr/>
          <p:nvPr/>
        </p:nvGraphicFramePr>
        <p:xfrm>
          <a:off x="762000" y="1381125"/>
          <a:ext cx="10668000" cy="4191000"/>
        </p:xfrm>
        <a:graphic>
          <a:graphicData uri="http://schemas.openxmlformats.org/drawingml/2006/table">
            <a:tbl>
              <a:tblPr/>
              <a:tblGrid>
                <a:gridCol w="30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2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3875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Specialization</a:t>
                      </a:r>
                    </a:p>
                  </a:txBody>
                  <a:tcPr>
                    <a:solidFill>
                      <a:srgbClr val="172B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Examples of distinguishing skills</a:t>
                      </a:r>
                    </a:p>
                  </a:txBody>
                  <a:tcPr>
                    <a:solidFill>
                      <a:srgbClr val="172B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3875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B45"/>
                          </a:solidFill>
                          <a:latin typeface="Aptos"/>
                          <a:ea typeface="Aptos"/>
                          <a:cs typeface="Aptos"/>
                        </a:rPr>
                        <a:t>Computer Vision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B45"/>
                          </a:solidFill>
                          <a:latin typeface="Aptos"/>
                          <a:ea typeface="Aptos"/>
                          <a:cs typeface="Aptos"/>
                        </a:rPr>
                        <a:t>OCR, OpenCV, YOLO, ResNet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3875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B45"/>
                          </a:solidFill>
                          <a:latin typeface="Aptos"/>
                          <a:ea typeface="Aptos"/>
                          <a:cs typeface="Aptos"/>
                        </a:rPr>
                        <a:t>Data Science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B45"/>
                          </a:solidFill>
                          <a:latin typeface="Aptos"/>
                          <a:ea typeface="Aptos"/>
                          <a:cs typeface="Aptos"/>
                        </a:rPr>
                        <a:t>SQL, A/B testing, Statsmodels, visualization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3875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B45"/>
                          </a:solidFill>
                          <a:latin typeface="Aptos"/>
                          <a:ea typeface="Aptos"/>
                          <a:cs typeface="Aptos"/>
                        </a:rPr>
                        <a:t>Deep Learning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B45"/>
                          </a:solidFill>
                          <a:latin typeface="Aptos"/>
                          <a:ea typeface="Aptos"/>
                          <a:cs typeface="Aptos"/>
                        </a:rPr>
                        <a:t>CNNs, CUDA, Keras, backpropagation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3875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B45"/>
                          </a:solidFill>
                          <a:latin typeface="Aptos"/>
                          <a:ea typeface="Aptos"/>
                          <a:cs typeface="Aptos"/>
                        </a:rPr>
                        <a:t>Generative 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B45"/>
                          </a:solidFill>
                          <a:latin typeface="Aptos"/>
                          <a:ea typeface="Aptos"/>
                          <a:cs typeface="Aptos"/>
                        </a:rPr>
                        <a:t>Vector databases, LangChain, RAG, fine-tuning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3875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B45"/>
                          </a:solidFill>
                          <a:latin typeface="Aptos"/>
                          <a:ea typeface="Aptos"/>
                          <a:cs typeface="Aptos"/>
                        </a:rPr>
                        <a:t>MLOps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B45"/>
                          </a:solidFill>
                          <a:latin typeface="Aptos"/>
                          <a:ea typeface="Aptos"/>
                          <a:cs typeface="Aptos"/>
                        </a:rPr>
                        <a:t>Model monitoring, Kubeflow, Kubernetes, Terraform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3875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B45"/>
                          </a:solidFill>
                          <a:latin typeface="Aptos"/>
                          <a:ea typeface="Aptos"/>
                          <a:cs typeface="Aptos"/>
                        </a:rPr>
                        <a:t>Machine Learning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B45"/>
                          </a:solidFill>
                          <a:latin typeface="Aptos"/>
                          <a:ea typeface="Aptos"/>
                          <a:cs typeface="Aptos"/>
                        </a:rPr>
                        <a:t>Feature engineering, NumPy, XGBoost, regression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3875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B45"/>
                          </a:solidFill>
                          <a:latin typeface="Aptos"/>
                          <a:ea typeface="Aptos"/>
                          <a:cs typeface="Aptos"/>
                        </a:rPr>
                        <a:t>NLP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2B45"/>
                          </a:solidFill>
                          <a:latin typeface="Aptos"/>
                          <a:ea typeface="Aptos"/>
                          <a:cs typeface="Aptos"/>
                        </a:rPr>
                        <a:t>BERT, spaCy, tokenization, Transformers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19DBFEB3-260B-4DDE-AD00-FDB38FF769B6}"/>
              </a:ext>
            </a:extLst>
          </p:cNvPr>
          <p:cNvSpPr>
            <a:spLocks noGrp="1"/>
          </p:cNvSpPr>
          <p:nvPr/>
        </p:nvSpPr>
        <p:spPr>
          <a:xfrm>
            <a:off x="762000" y="5867400"/>
            <a:ext cx="10477500" cy="4476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68788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87887"/>
                </a:solidFill>
                <a:latin typeface="Aptos"/>
                <a:ea typeface="Aptos"/>
                <a:cs typeface="Aptos"/>
              </a:rPr>
              <a:t>Profiles use within-specialization prevalence minus overall prevalence, in percentage points.</a:t>
            </a:r>
          </a:p>
        </p:txBody>
      </p:sp>
    </p:spTree>
    <p:extLst>
      <p:ext uri="{BB962C8B-B14F-4D97-AF65-F5344CB8AC3E}">
        <p14:creationId xmlns:p14="http://schemas.microsoft.com/office/powerpoint/2010/main" val="18845948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E12D53BB-C535-4FDC-812A-8808704E1B2B}"/>
              </a:ext>
            </a:extLst>
          </p:cNvPr>
          <p:cNvSpPr>
            <a:spLocks noGrp="1"/>
          </p:cNvSpPr>
          <p:nvPr/>
        </p:nvSpPr>
        <p:spPr>
          <a:xfrm>
            <a:off x="666750" y="428625"/>
            <a:ext cx="1085850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2B45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172B45"/>
                </a:solidFill>
                <a:latin typeface="Aptos"/>
                <a:ea typeface="Aptos"/>
                <a:cs typeface="Aptos"/>
              </a:rPr>
              <a:t>Common skills and specialization signals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44B8A71-1423-44D7-B3EA-04AE83FD36C4}"/>
              </a:ext>
            </a:extLst>
          </p:cNvPr>
          <p:cNvSpPr>
            <a:spLocks noGrp="1"/>
          </p:cNvSpPr>
          <p:nvPr/>
        </p:nvSpPr>
        <p:spPr>
          <a:xfrm>
            <a:off x="11334750" y="6381750"/>
            <a:ext cx="381000" cy="238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68788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87887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C962717-7533-4E50-A34E-3C58BBD03254}"/>
              </a:ext>
            </a:extLst>
          </p:cNvPr>
          <p:cNvSpPr>
            <a:spLocks noGrp="1"/>
          </p:cNvSpPr>
          <p:nvPr/>
        </p:nvSpPr>
        <p:spPr>
          <a:xfrm>
            <a:off x="762000" y="1571625"/>
            <a:ext cx="3810000" cy="1000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5700" b="1">
                <a:solidFill>
                  <a:srgbClr val="275F96"/>
                </a:solidFill>
                <a:latin typeface="Aptos"/>
                <a:ea typeface="Aptos"/>
                <a:cs typeface="Aptos"/>
              </a:defRPr>
            </a:pPr>
            <a:r>
              <a:rPr sz="5700" b="1">
                <a:solidFill>
                  <a:srgbClr val="275F96"/>
                </a:solidFill>
                <a:latin typeface="Aptos"/>
                <a:ea typeface="Aptos"/>
                <a:cs typeface="Aptos"/>
              </a:rPr>
              <a:t>46.0%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D7E720B-15BC-4E95-8CC0-86DAB207A781}"/>
              </a:ext>
            </a:extLst>
          </p:cNvPr>
          <p:cNvSpPr>
            <a:spLocks noGrp="1"/>
          </p:cNvSpPr>
          <p:nvPr/>
        </p:nvSpPr>
        <p:spPr>
          <a:xfrm>
            <a:off x="762000" y="2667000"/>
            <a:ext cx="3810000" cy="476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0">
                <a:solidFill>
                  <a:srgbClr val="172B45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72B45"/>
                </a:solidFill>
                <a:latin typeface="Aptos"/>
                <a:ea typeface="Aptos"/>
                <a:cs typeface="Aptos"/>
              </a:rPr>
              <a:t>Pandas prevalence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E65390F-730B-4097-939D-0C1683663A6E}"/>
              </a:ext>
            </a:extLst>
          </p:cNvPr>
          <p:cNvSpPr>
            <a:spLocks noGrp="1"/>
          </p:cNvSpPr>
          <p:nvPr/>
        </p:nvSpPr>
        <p:spPr>
          <a:xfrm>
            <a:off x="6191250" y="1571625"/>
            <a:ext cx="5048250" cy="1000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5700" b="1">
                <a:solidFill>
                  <a:srgbClr val="275F96"/>
                </a:solidFill>
                <a:latin typeface="Aptos"/>
                <a:ea typeface="Aptos"/>
                <a:cs typeface="Aptos"/>
              </a:defRPr>
            </a:pPr>
            <a:r>
              <a:rPr sz="5700" b="1">
                <a:solidFill>
                  <a:srgbClr val="275F96"/>
                </a:solidFill>
                <a:latin typeface="Aptos"/>
                <a:ea typeface="Aptos"/>
                <a:cs typeface="Aptos"/>
              </a:rPr>
              <a:t>39–40%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F6D50B9-81CE-4B50-8647-437608935D21}"/>
              </a:ext>
            </a:extLst>
          </p:cNvPr>
          <p:cNvSpPr>
            <a:spLocks noGrp="1"/>
          </p:cNvSpPr>
          <p:nvPr/>
        </p:nvSpPr>
        <p:spPr>
          <a:xfrm>
            <a:off x="6191250" y="2667000"/>
            <a:ext cx="5048250" cy="809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0">
                <a:solidFill>
                  <a:srgbClr val="172B45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72B45"/>
                </a:solidFill>
                <a:latin typeface="Aptos"/>
                <a:ea typeface="Aptos"/>
                <a:cs typeface="Aptos"/>
              </a:rPr>
              <a:t>Several traditional ML tools and methods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8E2CFE8-8F0E-4AE4-9F02-8E42107759C3}"/>
              </a:ext>
            </a:extLst>
          </p:cNvPr>
          <p:cNvSpPr>
            <a:spLocks noGrp="1"/>
          </p:cNvSpPr>
          <p:nvPr/>
        </p:nvSpPr>
        <p:spPr>
          <a:xfrm>
            <a:off x="762000" y="4095750"/>
            <a:ext cx="10477500" cy="809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0">
                <a:solidFill>
                  <a:srgbClr val="172B45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72B45"/>
                </a:solidFill>
                <a:latin typeface="Aptos"/>
                <a:ea typeface="Aptos"/>
                <a:cs typeface="Aptos"/>
              </a:rPr>
              <a:t>PyTorch appeared in about 22.1% of postings. Several MLOps tools appeared in about 19%.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886B824-76AD-4696-9CEE-CF9D34DE05F8}"/>
              </a:ext>
            </a:extLst>
          </p:cNvPr>
          <p:cNvSpPr>
            <a:spLocks noGrp="1"/>
          </p:cNvSpPr>
          <p:nvPr/>
        </p:nvSpPr>
        <p:spPr>
          <a:xfrm>
            <a:off x="762000" y="5867400"/>
            <a:ext cx="10477500" cy="4476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68788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87887"/>
                </a:solidFill>
                <a:latin typeface="Aptos"/>
                <a:ea typeface="Aptos"/>
                <a:cs typeface="Aptos"/>
              </a:rPr>
              <a:t>Popular-title subset only. Overall frequency differs from usefulness for identifying a specialization.</a:t>
            </a:r>
          </a:p>
        </p:txBody>
      </p:sp>
    </p:spTree>
    <p:extLst>
      <p:ext uri="{BB962C8B-B14F-4D97-AF65-F5344CB8AC3E}">
        <p14:creationId xmlns:p14="http://schemas.microsoft.com/office/powerpoint/2010/main" val="8322445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0B69D8B-ED19-4791-B2BC-BE612622A71A}"/>
              </a:ext>
            </a:extLst>
          </p:cNvPr>
          <p:cNvSpPr>
            <a:spLocks noGrp="1"/>
          </p:cNvSpPr>
          <p:nvPr/>
        </p:nvSpPr>
        <p:spPr>
          <a:xfrm>
            <a:off x="666750" y="428625"/>
            <a:ext cx="1085850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2B45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172B45"/>
                </a:solidFill>
                <a:latin typeface="Aptos"/>
                <a:ea typeface="Aptos"/>
                <a:cs typeface="Aptos"/>
              </a:rPr>
              <a:t>Industry, work arrangement, and applicants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FF22263-D7E9-4763-B908-5C2FA364DC32}"/>
              </a:ext>
            </a:extLst>
          </p:cNvPr>
          <p:cNvSpPr>
            <a:spLocks noGrp="1"/>
          </p:cNvSpPr>
          <p:nvPr/>
        </p:nvSpPr>
        <p:spPr>
          <a:xfrm>
            <a:off x="11334750" y="6381750"/>
            <a:ext cx="381000" cy="238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68788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87887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graphicFrame>
        <p:nvGraphicFramePr>
          <p:cNvPr id="8" name="Table 7"/>
          <p:cNvGraphicFramePr/>
          <p:nvPr/>
        </p:nvGraphicFramePr>
        <p:xfrm>
          <a:off x="762000" y="1524000"/>
          <a:ext cx="10668000" cy="2095500"/>
        </p:xfrm>
        <a:graphic>
          <a:graphicData uri="http://schemas.openxmlformats.org/drawingml/2006/table">
            <a:tbl>
              <a:tblPr/>
              <a:tblGrid>
                <a:gridCol w="4857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95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14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9850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Comparison</a:t>
                      </a:r>
                    </a:p>
                  </a:txBody>
                  <a:tcPr>
                    <a:solidFill>
                      <a:srgbClr val="172B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Result</a:t>
                      </a:r>
                    </a:p>
                  </a:txBody>
                  <a:tcPr>
                    <a:solidFill>
                      <a:srgbClr val="172B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Interpretation</a:t>
                      </a:r>
                    </a:p>
                  </a:txBody>
                  <a:tcPr>
                    <a:solidFill>
                      <a:srgbClr val="172B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85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B45"/>
                          </a:solidFill>
                          <a:latin typeface="Aptos"/>
                          <a:ea typeface="Aptos"/>
                          <a:cs typeface="Aptos"/>
                        </a:rPr>
                        <a:t>Industry vs. specialization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B45"/>
                          </a:solidFill>
                          <a:latin typeface="Aptos"/>
                          <a:ea typeface="Aptos"/>
                          <a:cs typeface="Aptos"/>
                        </a:rPr>
                        <a:t>p = 0.2141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B45"/>
                          </a:solidFill>
                          <a:latin typeface="Aptos"/>
                          <a:ea typeface="Aptos"/>
                          <a:cs typeface="Aptos"/>
                        </a:rPr>
                        <a:t>No rejection of independence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85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B45"/>
                          </a:solidFill>
                          <a:latin typeface="Aptos"/>
                          <a:ea typeface="Aptos"/>
                          <a:cs typeface="Aptos"/>
                        </a:rPr>
                        <a:t>Work arrangement vs. specialization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B45"/>
                          </a:solidFill>
                          <a:latin typeface="Aptos"/>
                          <a:ea typeface="Aptos"/>
                          <a:cs typeface="Aptos"/>
                        </a:rPr>
                        <a:t>p = 0.7279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B45"/>
                          </a:solidFill>
                          <a:latin typeface="Aptos"/>
                          <a:ea typeface="Aptos"/>
                          <a:cs typeface="Aptos"/>
                        </a:rPr>
                        <a:t>No rejection of independence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68EE6EFB-8AD2-464E-8E69-BD6D046C7DF7}"/>
              </a:ext>
            </a:extLst>
          </p:cNvPr>
          <p:cNvSpPr>
            <a:spLocks noGrp="1"/>
          </p:cNvSpPr>
          <p:nvPr/>
        </p:nvSpPr>
        <p:spPr>
          <a:xfrm>
            <a:off x="762000" y="4048125"/>
            <a:ext cx="10572750" cy="1047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0">
                <a:solidFill>
                  <a:srgbClr val="172B45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72B45"/>
                </a:solidFill>
                <a:latin typeface="Aptos"/>
                <a:ea typeface="Aptos"/>
                <a:cs typeface="Aptos"/>
              </a:rPr>
              <a:t>Median applicant counts ranged from 212 to 238 by specialization. Within-group standard deviations were about 128–132.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8ACD38F-639B-4B5F-98FD-2A3EDC2CFEA2}"/>
              </a:ext>
            </a:extLst>
          </p:cNvPr>
          <p:cNvSpPr>
            <a:spLocks noGrp="1"/>
          </p:cNvSpPr>
          <p:nvPr/>
        </p:nvSpPr>
        <p:spPr>
          <a:xfrm>
            <a:off x="762000" y="5867400"/>
            <a:ext cx="10477500" cy="4476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68788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87887"/>
                </a:solidFill>
                <a:latin typeface="Aptos"/>
                <a:ea typeface="Aptos"/>
                <a:cs typeface="Aptos"/>
              </a:rPr>
              <a:t>At α = 0.05, these tests do not prove independence. Applicant patterns are descriptive.</a:t>
            </a:r>
          </a:p>
        </p:txBody>
      </p:sp>
    </p:spTree>
    <p:extLst>
      <p:ext uri="{BB962C8B-B14F-4D97-AF65-F5344CB8AC3E}">
        <p14:creationId xmlns:p14="http://schemas.microsoft.com/office/powerpoint/2010/main" val="16957983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3DEF5492-2ADE-4892-AD4B-752918B4EAD6}"/>
              </a:ext>
            </a:extLst>
          </p:cNvPr>
          <p:cNvSpPr>
            <a:spLocks noGrp="1"/>
          </p:cNvSpPr>
          <p:nvPr/>
        </p:nvSpPr>
        <p:spPr>
          <a:xfrm>
            <a:off x="666750" y="428625"/>
            <a:ext cx="1085850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2B45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172B45"/>
                </a:solidFill>
                <a:latin typeface="Aptos"/>
                <a:ea typeface="Aptos"/>
                <a:cs typeface="Aptos"/>
              </a:rPr>
              <a:t>Model features and evaluation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99C3839-F9D7-45EC-A301-19A484F926EA}"/>
              </a:ext>
            </a:extLst>
          </p:cNvPr>
          <p:cNvSpPr>
            <a:spLocks noGrp="1"/>
          </p:cNvSpPr>
          <p:nvPr/>
        </p:nvSpPr>
        <p:spPr>
          <a:xfrm>
            <a:off x="11334750" y="6381750"/>
            <a:ext cx="381000" cy="238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68788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87887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1050295-8599-4C83-B8CA-489C206FE6A3}"/>
              </a:ext>
            </a:extLst>
          </p:cNvPr>
          <p:cNvSpPr>
            <a:spLocks noGrp="1"/>
          </p:cNvSpPr>
          <p:nvPr/>
        </p:nvSpPr>
        <p:spPr>
          <a:xfrm>
            <a:off x="762000" y="1571625"/>
            <a:ext cx="1057275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0">
                <a:solidFill>
                  <a:srgbClr val="172B45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72B45"/>
                </a:solidFill>
                <a:latin typeface="Aptos"/>
                <a:ea typeface="Aptos"/>
                <a:cs typeface="Aptos"/>
              </a:rPr>
              <a:t>Predictors: normalized years of experience, education indicators, experience-level indicators, and 15 skill indicators.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15818CD-80EF-4F69-9FC6-0FD29BDC9911}"/>
              </a:ext>
            </a:extLst>
          </p:cNvPr>
          <p:cNvSpPr>
            <a:spLocks noGrp="1"/>
          </p:cNvSpPr>
          <p:nvPr/>
        </p:nvSpPr>
        <p:spPr>
          <a:xfrm>
            <a:off x="762000" y="2571750"/>
            <a:ext cx="1057275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0">
                <a:solidFill>
                  <a:srgbClr val="172B45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72B45"/>
                </a:solidFill>
                <a:latin typeface="Aptos"/>
                <a:ea typeface="Aptos"/>
                <a:cs typeface="Aptos"/>
              </a:rPr>
              <a:t>80/20 split: 7,012 training rows and 1,754 test rows. Fixed random seed: 42.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B8DFCDF-776E-4EB1-AC2B-C8E0CE5BDD10}"/>
              </a:ext>
            </a:extLst>
          </p:cNvPr>
          <p:cNvSpPr>
            <a:spLocks noGrp="1"/>
          </p:cNvSpPr>
          <p:nvPr/>
        </p:nvSpPr>
        <p:spPr>
          <a:xfrm>
            <a:off x="762000" y="3571875"/>
            <a:ext cx="1057275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0">
                <a:solidFill>
                  <a:srgbClr val="172B45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72B45"/>
                </a:solidFill>
                <a:latin typeface="Aptos"/>
                <a:ea typeface="Aptos"/>
                <a:cs typeface="Aptos"/>
              </a:rPr>
              <a:t>Five-fold shuffled cross-validation selected models using MAE. RMSE and R² supplemented the final test comparison.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A0926D2-9E3B-4DDF-A552-C0812284EF87}"/>
              </a:ext>
            </a:extLst>
          </p:cNvPr>
          <p:cNvSpPr>
            <a:spLocks noGrp="1"/>
          </p:cNvSpPr>
          <p:nvPr/>
        </p:nvSpPr>
        <p:spPr>
          <a:xfrm>
            <a:off x="762000" y="5867400"/>
            <a:ext cx="10477500" cy="4476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68788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87887"/>
                </a:solidFill>
                <a:latin typeface="Aptos"/>
                <a:ea typeface="Aptos"/>
                <a:cs typeface="Aptos"/>
              </a:rPr>
              <a:t>Linear Regression used 20 predictors. Random Forest used 22. A mean baseline provided a reference.</a:t>
            </a:r>
          </a:p>
        </p:txBody>
      </p:sp>
    </p:spTree>
    <p:extLst>
      <p:ext uri="{BB962C8B-B14F-4D97-AF65-F5344CB8AC3E}">
        <p14:creationId xmlns:p14="http://schemas.microsoft.com/office/powerpoint/2010/main" val="4878411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A23ABEAB-1976-4B5A-9446-A6255E0213F4}"/>
              </a:ext>
            </a:extLst>
          </p:cNvPr>
          <p:cNvSpPr>
            <a:spLocks noGrp="1"/>
          </p:cNvSpPr>
          <p:nvPr/>
        </p:nvSpPr>
        <p:spPr>
          <a:xfrm>
            <a:off x="666750" y="428625"/>
            <a:ext cx="1085850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2B45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172B45"/>
                </a:solidFill>
                <a:latin typeface="Aptos"/>
                <a:ea typeface="Aptos"/>
                <a:cs typeface="Aptos"/>
              </a:rPr>
              <a:t>Model selection favored constrained fitting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9148957-05DA-4763-8648-73320C67E275}"/>
              </a:ext>
            </a:extLst>
          </p:cNvPr>
          <p:cNvSpPr>
            <a:spLocks noGrp="1"/>
          </p:cNvSpPr>
          <p:nvPr/>
        </p:nvSpPr>
        <p:spPr>
          <a:xfrm>
            <a:off x="11334750" y="6381750"/>
            <a:ext cx="381000" cy="238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68788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87887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graphicFrame>
        <p:nvGraphicFramePr>
          <p:cNvPr id="9" name="Table 8"/>
          <p:cNvGraphicFramePr/>
          <p:nvPr/>
        </p:nvGraphicFramePr>
        <p:xfrm>
          <a:off x="762000" y="1524000"/>
          <a:ext cx="10668000" cy="2381250"/>
        </p:xfrm>
        <a:graphic>
          <a:graphicData uri="http://schemas.openxmlformats.org/drawingml/2006/table">
            <a:tbl>
              <a:tblPr/>
              <a:tblGrid>
                <a:gridCol w="2857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10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00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937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Model</a:t>
                      </a:r>
                    </a:p>
                  </a:txBody>
                  <a:tcPr>
                    <a:solidFill>
                      <a:srgbClr val="172B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Selected configuration</a:t>
                      </a:r>
                    </a:p>
                  </a:txBody>
                  <a:tcPr>
                    <a:solidFill>
                      <a:srgbClr val="172B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Validation MAE</a:t>
                      </a:r>
                    </a:p>
                  </a:txBody>
                  <a:tcPr>
                    <a:solidFill>
                      <a:srgbClr val="172B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937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B45"/>
                          </a:solidFill>
                          <a:latin typeface="Aptos"/>
                          <a:ea typeface="Aptos"/>
                          <a:cs typeface="Aptos"/>
                        </a:rPr>
                        <a:t>Linear Regression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B45"/>
                          </a:solidFill>
                          <a:latin typeface="Aptos"/>
                          <a:ea typeface="Aptos"/>
                          <a:cs typeface="Aptos"/>
                        </a:rPr>
                        <a:t>Intercept on, nonnegative coefficients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B45"/>
                          </a:solidFill>
                          <a:latin typeface="Aptos"/>
                          <a:ea typeface="Aptos"/>
                          <a:cs typeface="Aptos"/>
                        </a:rPr>
                        <a:t>$9,735.49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937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B45"/>
                          </a:solidFill>
                          <a:latin typeface="Aptos"/>
                          <a:ea typeface="Aptos"/>
                          <a:cs typeface="Aptos"/>
                        </a:rPr>
                        <a:t>Random Forest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B45"/>
                          </a:solidFill>
                          <a:latin typeface="Aptos"/>
                          <a:ea typeface="Aptos"/>
                          <a:cs typeface="Aptos"/>
                        </a:rPr>
                        <a:t>Depth 8, minimum leaf 5, half of features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B45"/>
                          </a:solidFill>
                          <a:latin typeface="Aptos"/>
                          <a:ea typeface="Aptos"/>
                          <a:cs typeface="Aptos"/>
                        </a:rPr>
                        <a:t>$9,559.79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8973F4A4-3D7F-425A-B05E-B25EEC076CE0}"/>
              </a:ext>
            </a:extLst>
          </p:cNvPr>
          <p:cNvSpPr>
            <a:spLocks noGrp="1"/>
          </p:cNvSpPr>
          <p:nvPr/>
        </p:nvSpPr>
        <p:spPr>
          <a:xfrm>
            <a:off x="762000" y="4238625"/>
            <a:ext cx="10477500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0">
                <a:solidFill>
                  <a:srgbClr val="172B45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72B45"/>
                </a:solidFill>
                <a:latin typeface="Aptos"/>
                <a:ea typeface="Aptos"/>
                <a:cs typeface="Aptos"/>
              </a:rPr>
              <a:t>Linear tuning improved MAE by only $21.39, or about 0.22%.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0A66B69-F061-403A-BD2B-FBB3F97A448A}"/>
              </a:ext>
            </a:extLst>
          </p:cNvPr>
          <p:cNvSpPr>
            <a:spLocks noGrp="1"/>
          </p:cNvSpPr>
          <p:nvPr/>
        </p:nvSpPr>
        <p:spPr>
          <a:xfrm>
            <a:off x="762000" y="5000625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0">
                <a:solidFill>
                  <a:srgbClr val="172B45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72B45"/>
                </a:solidFill>
                <a:latin typeface="Aptos"/>
                <a:ea typeface="Aptos"/>
                <a:cs typeface="Aptos"/>
              </a:rPr>
              <a:t>Deeper forests fit training rows more closely but performed worse in validation.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80A14B0-ABD9-458D-A5EF-5AD7384245C4}"/>
              </a:ext>
            </a:extLst>
          </p:cNvPr>
          <p:cNvSpPr>
            <a:spLocks noGrp="1"/>
          </p:cNvSpPr>
          <p:nvPr/>
        </p:nvSpPr>
        <p:spPr>
          <a:xfrm>
            <a:off x="762000" y="5867400"/>
            <a:ext cx="10477500" cy="4476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68788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87887"/>
                </a:solidFill>
                <a:latin typeface="Aptos"/>
                <a:ea typeface="Aptos"/>
                <a:cs typeface="Aptos"/>
              </a:rPr>
              <a:t>Random Forest used 150 trees and eight tested combinations. All salary scores remain provisional.</a:t>
            </a:r>
          </a:p>
        </p:txBody>
      </p:sp>
    </p:spTree>
    <p:extLst>
      <p:ext uri="{BB962C8B-B14F-4D97-AF65-F5344CB8AC3E}">
        <p14:creationId xmlns:p14="http://schemas.microsoft.com/office/powerpoint/2010/main" val="10158112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D4D4C20-F3E8-4CEA-A1ED-B7E131898460}"/>
              </a:ext>
            </a:extLst>
          </p:cNvPr>
          <p:cNvSpPr>
            <a:spLocks noGrp="1"/>
          </p:cNvSpPr>
          <p:nvPr/>
        </p:nvSpPr>
        <p:spPr>
          <a:xfrm>
            <a:off x="666750" y="428625"/>
            <a:ext cx="1085850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2B45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172B45"/>
                </a:solidFill>
                <a:latin typeface="Aptos"/>
                <a:ea typeface="Aptos"/>
                <a:cs typeface="Aptos"/>
              </a:rPr>
              <a:t>Random Forest has the lowest test error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30EB5A1-5324-4808-A28E-E9D1DF08D01D}"/>
              </a:ext>
            </a:extLst>
          </p:cNvPr>
          <p:cNvSpPr>
            <a:spLocks noGrp="1"/>
          </p:cNvSpPr>
          <p:nvPr/>
        </p:nvSpPr>
        <p:spPr>
          <a:xfrm>
            <a:off x="11334750" y="6381750"/>
            <a:ext cx="381000" cy="238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68788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87887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graphicFrame>
        <p:nvGraphicFramePr>
          <p:cNvPr id="8" name="Table 7"/>
          <p:cNvGraphicFramePr/>
          <p:nvPr/>
        </p:nvGraphicFramePr>
        <p:xfrm>
          <a:off x="762000" y="1524000"/>
          <a:ext cx="10668000" cy="2857500"/>
        </p:xfrm>
        <a:graphic>
          <a:graphicData uri="http://schemas.openxmlformats.org/drawingml/2006/table">
            <a:tbl>
              <a:tblPr/>
              <a:tblGrid>
                <a:gridCol w="3524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1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81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81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14375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Model</a:t>
                      </a:r>
                    </a:p>
                  </a:txBody>
                  <a:tcPr>
                    <a:solidFill>
                      <a:srgbClr val="172B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Test MAE</a:t>
                      </a:r>
                    </a:p>
                  </a:txBody>
                  <a:tcPr>
                    <a:solidFill>
                      <a:srgbClr val="172B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Test RMSE</a:t>
                      </a:r>
                    </a:p>
                  </a:txBody>
                  <a:tcPr>
                    <a:solidFill>
                      <a:srgbClr val="172B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Test R²</a:t>
                      </a:r>
                    </a:p>
                  </a:txBody>
                  <a:tcPr>
                    <a:solidFill>
                      <a:srgbClr val="172B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4375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2B45"/>
                          </a:solidFill>
                          <a:latin typeface="Aptos"/>
                          <a:ea typeface="Aptos"/>
                          <a:cs typeface="Aptos"/>
                        </a:rPr>
                        <a:t>Mean baseline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2B45"/>
                          </a:solidFill>
                          <a:latin typeface="Aptos"/>
                          <a:ea typeface="Aptos"/>
                          <a:cs typeface="Aptos"/>
                        </a:rPr>
                        <a:t>$40,567.00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2B45"/>
                          </a:solidFill>
                          <a:latin typeface="Aptos"/>
                          <a:ea typeface="Aptos"/>
                          <a:cs typeface="Aptos"/>
                        </a:rPr>
                        <a:t>$48,596.96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2B45"/>
                          </a:solidFill>
                          <a:latin typeface="Aptos"/>
                          <a:ea typeface="Aptos"/>
                          <a:cs typeface="Aptos"/>
                        </a:rPr>
                        <a:t>−0.0016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4375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2B45"/>
                          </a:solidFill>
                          <a:latin typeface="Aptos"/>
                          <a:ea typeface="Aptos"/>
                          <a:cs typeface="Aptos"/>
                        </a:rPr>
                        <a:t>Linear Regression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2B45"/>
                          </a:solidFill>
                          <a:latin typeface="Aptos"/>
                          <a:ea typeface="Aptos"/>
                          <a:cs typeface="Aptos"/>
                        </a:rPr>
                        <a:t>$9,478.15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2B45"/>
                          </a:solidFill>
                          <a:latin typeface="Aptos"/>
                          <a:ea typeface="Aptos"/>
                          <a:cs typeface="Aptos"/>
                        </a:rPr>
                        <a:t>$12,117.90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2B45"/>
                          </a:solidFill>
                          <a:latin typeface="Aptos"/>
                          <a:ea typeface="Aptos"/>
                          <a:cs typeface="Aptos"/>
                        </a:rPr>
                        <a:t>0.9377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4375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2B45"/>
                          </a:solidFill>
                          <a:latin typeface="Aptos"/>
                          <a:ea typeface="Aptos"/>
                          <a:cs typeface="Aptos"/>
                        </a:rPr>
                        <a:t>Random Forest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2B45"/>
                          </a:solidFill>
                          <a:latin typeface="Aptos"/>
                          <a:ea typeface="Aptos"/>
                          <a:cs typeface="Aptos"/>
                        </a:rPr>
                        <a:t>$9,250.28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2B45"/>
                          </a:solidFill>
                          <a:latin typeface="Aptos"/>
                          <a:ea typeface="Aptos"/>
                          <a:cs typeface="Aptos"/>
                        </a:rPr>
                        <a:t>$11,403.42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2B45"/>
                          </a:solidFill>
                          <a:latin typeface="Aptos"/>
                          <a:ea typeface="Aptos"/>
                          <a:cs typeface="Aptos"/>
                        </a:rPr>
                        <a:t>0.9449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76881061-DF62-4ED9-8EBA-4F5ABE63F4C7}"/>
              </a:ext>
            </a:extLst>
          </p:cNvPr>
          <p:cNvSpPr>
            <a:spLocks noGrp="1"/>
          </p:cNvSpPr>
          <p:nvPr/>
        </p:nvSpPr>
        <p:spPr>
          <a:xfrm>
            <a:off x="762000" y="4810125"/>
            <a:ext cx="104775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0">
                <a:solidFill>
                  <a:srgbClr val="172B45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72B45"/>
                </a:solidFill>
                <a:latin typeface="Aptos"/>
                <a:ea typeface="Aptos"/>
                <a:cs typeface="Aptos"/>
              </a:rPr>
              <a:t>Random Forest reduced test MAE by $227.87, about 2.4%, compared with Linear Regression.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C982E2B-11C7-400D-8491-DF6615AEF66A}"/>
              </a:ext>
            </a:extLst>
          </p:cNvPr>
          <p:cNvSpPr>
            <a:spLocks noGrp="1"/>
          </p:cNvSpPr>
          <p:nvPr/>
        </p:nvSpPr>
        <p:spPr>
          <a:xfrm>
            <a:off x="762000" y="5867400"/>
            <a:ext cx="10477500" cy="4476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68788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87887"/>
                </a:solidFill>
                <a:latin typeface="Aptos"/>
                <a:ea typeface="Aptos"/>
                <a:cs typeface="Aptos"/>
              </a:rPr>
              <a:t>PROVISIONAL: Currency conversion and geographic labels require correction before relying on these results.</a:t>
            </a:r>
          </a:p>
        </p:txBody>
      </p:sp>
    </p:spTree>
    <p:extLst>
      <p:ext uri="{BB962C8B-B14F-4D97-AF65-F5344CB8AC3E}">
        <p14:creationId xmlns:p14="http://schemas.microsoft.com/office/powerpoint/2010/main" val="6100682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FA6B562-D6ED-4D23-921B-101CFC7A4571}"/>
              </a:ext>
            </a:extLst>
          </p:cNvPr>
          <p:cNvSpPr>
            <a:spLocks noGrp="1"/>
          </p:cNvSpPr>
          <p:nvPr/>
        </p:nvSpPr>
        <p:spPr>
          <a:xfrm>
            <a:off x="666750" y="428625"/>
            <a:ext cx="1085850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2B45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172B45"/>
                </a:solidFill>
                <a:latin typeface="Aptos"/>
                <a:ea typeface="Aptos"/>
                <a:cs typeface="Aptos"/>
              </a:rPr>
              <a:t>Experience dominates the fitted models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F334058-936B-4122-85D3-D45BEAAD78ED}"/>
              </a:ext>
            </a:extLst>
          </p:cNvPr>
          <p:cNvSpPr>
            <a:spLocks noGrp="1"/>
          </p:cNvSpPr>
          <p:nvPr/>
        </p:nvSpPr>
        <p:spPr>
          <a:xfrm>
            <a:off x="11334750" y="6381750"/>
            <a:ext cx="381000" cy="238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68788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87887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38BC126-2621-4FB2-829C-E084B09AD082}"/>
              </a:ext>
            </a:extLst>
          </p:cNvPr>
          <p:cNvSpPr>
            <a:spLocks noGrp="1"/>
          </p:cNvSpPr>
          <p:nvPr/>
        </p:nvSpPr>
        <p:spPr>
          <a:xfrm>
            <a:off x="762000" y="1666875"/>
            <a:ext cx="5143500" cy="1285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7500" b="1">
                <a:solidFill>
                  <a:srgbClr val="275F96"/>
                </a:solidFill>
                <a:latin typeface="Aptos"/>
                <a:ea typeface="Aptos"/>
                <a:cs typeface="Aptos"/>
              </a:defRPr>
            </a:pPr>
            <a:r>
              <a:rPr sz="7500" b="1">
                <a:solidFill>
                  <a:srgbClr val="275F96"/>
                </a:solidFill>
                <a:latin typeface="Aptos"/>
                <a:ea typeface="Aptos"/>
                <a:cs typeface="Aptos"/>
              </a:rPr>
              <a:t>96.8%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9603C09-1905-431B-B60F-FF78BDBBA6D5}"/>
              </a:ext>
            </a:extLst>
          </p:cNvPr>
          <p:cNvSpPr>
            <a:spLocks noGrp="1"/>
          </p:cNvSpPr>
          <p:nvPr/>
        </p:nvSpPr>
        <p:spPr>
          <a:xfrm>
            <a:off x="762000" y="3143250"/>
            <a:ext cx="5143500" cy="1190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172B45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172B45"/>
                </a:solidFill>
                <a:latin typeface="Aptos"/>
                <a:ea typeface="Aptos"/>
                <a:cs typeface="Aptos"/>
              </a:rPr>
              <a:t>Random Forest importance attributed to experience-related features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1E5B6F3-B334-438A-8E4A-FFD9EA4FB841}"/>
              </a:ext>
            </a:extLst>
          </p:cNvPr>
          <p:cNvSpPr>
            <a:spLocks noGrp="1"/>
          </p:cNvSpPr>
          <p:nvPr/>
        </p:nvSpPr>
        <p:spPr>
          <a:xfrm>
            <a:off x="6858000" y="1762125"/>
            <a:ext cx="4476750" cy="1190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172B45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172B45"/>
                </a:solidFill>
                <a:latin typeface="Aptos"/>
                <a:ea typeface="Aptos"/>
                <a:cs typeface="Aptos"/>
              </a:rPr>
              <a:t>Experience-level indicators also had the largest Linear Regression coefficients.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DB8F44A-7540-42A0-8BC1-7E8D2820B590}"/>
              </a:ext>
            </a:extLst>
          </p:cNvPr>
          <p:cNvSpPr>
            <a:spLocks noGrp="1"/>
          </p:cNvSpPr>
          <p:nvPr/>
        </p:nvSpPr>
        <p:spPr>
          <a:xfrm>
            <a:off x="6858000" y="3524250"/>
            <a:ext cx="4476750" cy="1524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25" b="0">
                <a:solidFill>
                  <a:srgbClr val="172B45"/>
                </a:solidFill>
                <a:latin typeface="Aptos"/>
                <a:ea typeface="Aptos"/>
                <a:cs typeface="Aptos"/>
              </a:defRPr>
            </a:pPr>
            <a:r>
              <a:rPr sz="2025" b="0">
                <a:solidFill>
                  <a:srgbClr val="172B45"/>
                </a:solidFill>
                <a:latin typeface="Aptos"/>
                <a:ea typeface="Aptos"/>
                <a:cs typeface="Aptos"/>
              </a:rPr>
              <a:t>Importance describes model behavior. Correlated predictors and coefficient constraints affect interpretation.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A7FC315-6A64-4E4D-ACDF-EF1850519648}"/>
              </a:ext>
            </a:extLst>
          </p:cNvPr>
          <p:cNvSpPr>
            <a:spLocks noGrp="1"/>
          </p:cNvSpPr>
          <p:nvPr/>
        </p:nvSpPr>
        <p:spPr>
          <a:xfrm>
            <a:off x="762000" y="5867400"/>
            <a:ext cx="10477500" cy="4476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68788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87887"/>
                </a:solidFill>
                <a:latin typeface="Aptos"/>
                <a:ea typeface="Aptos"/>
                <a:cs typeface="Aptos"/>
              </a:rPr>
              <a:t>Impurity-based importance does not establish a causal effect of experience on salary.</a:t>
            </a:r>
          </a:p>
        </p:txBody>
      </p:sp>
    </p:spTree>
    <p:extLst>
      <p:ext uri="{BB962C8B-B14F-4D97-AF65-F5344CB8AC3E}">
        <p14:creationId xmlns:p14="http://schemas.microsoft.com/office/powerpoint/2010/main" val="6057237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7CC9A77-B7CF-46A2-9E70-7268AC679820}"/>
              </a:ext>
            </a:extLst>
          </p:cNvPr>
          <p:cNvSpPr>
            <a:spLocks noGrp="1"/>
          </p:cNvSpPr>
          <p:nvPr/>
        </p:nvSpPr>
        <p:spPr>
          <a:xfrm>
            <a:off x="666750" y="428625"/>
            <a:ext cx="1085850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2B45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172B45"/>
                </a:solidFill>
                <a:latin typeface="Aptos"/>
                <a:ea typeface="Aptos"/>
                <a:cs typeface="Aptos"/>
              </a:rPr>
              <a:t>Data correction is the first priority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61CF691-61A4-40D5-A1B6-520CE4DCBB1F}"/>
              </a:ext>
            </a:extLst>
          </p:cNvPr>
          <p:cNvSpPr>
            <a:spLocks noGrp="1"/>
          </p:cNvSpPr>
          <p:nvPr/>
        </p:nvSpPr>
        <p:spPr>
          <a:xfrm>
            <a:off x="11334750" y="6381750"/>
            <a:ext cx="381000" cy="238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68788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87887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499FEAC-35D8-4313-9331-79399A48FE2C}"/>
              </a:ext>
            </a:extLst>
          </p:cNvPr>
          <p:cNvSpPr>
            <a:spLocks noGrp="1"/>
          </p:cNvSpPr>
          <p:nvPr/>
        </p:nvSpPr>
        <p:spPr>
          <a:xfrm>
            <a:off x="762000" y="1571625"/>
            <a:ext cx="1057275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0">
                <a:solidFill>
                  <a:srgbClr val="172B45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72B45"/>
                </a:solidFill>
                <a:latin typeface="Aptos"/>
                <a:ea typeface="Aptos"/>
                <a:cs typeface="Aptos"/>
              </a:rPr>
              <a:t>Correct currency conversion and validate country labels against posting locations. Then regenerate all salary results.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10759AA-D532-4A94-8A17-492E5DEA8EAB}"/>
              </a:ext>
            </a:extLst>
          </p:cNvPr>
          <p:cNvSpPr>
            <a:spLocks noGrp="1"/>
          </p:cNvSpPr>
          <p:nvPr/>
        </p:nvSpPr>
        <p:spPr>
          <a:xfrm>
            <a:off x="762000" y="2571750"/>
            <a:ext cx="1057275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0">
                <a:solidFill>
                  <a:srgbClr val="172B45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72B45"/>
                </a:solidFill>
                <a:latin typeface="Aptos"/>
                <a:ea typeface="Aptos"/>
                <a:cs typeface="Aptos"/>
              </a:rPr>
              <a:t>Test omitted predictors, including location, title, industry, work arrangement, and specialization. Compare with an experience-only model.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F92F8FA-CDCD-44DE-9675-C9D857531741}"/>
              </a:ext>
            </a:extLst>
          </p:cNvPr>
          <p:cNvSpPr>
            <a:spLocks noGrp="1"/>
          </p:cNvSpPr>
          <p:nvPr/>
        </p:nvSpPr>
        <p:spPr>
          <a:xfrm>
            <a:off x="762000" y="3571875"/>
            <a:ext cx="1057275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0">
                <a:solidFill>
                  <a:srgbClr val="172B45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72B45"/>
                </a:solidFill>
                <a:latin typeface="Aptos"/>
                <a:ea typeface="Aptos"/>
                <a:cs typeface="Aptos"/>
              </a:rPr>
              <a:t>Use permutation importance and subgroup errors. Evaluate future postings or unfamiliar employers with a fresh holdout.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2964A59-447F-43CE-B7B8-5407EF1C1D25}"/>
              </a:ext>
            </a:extLst>
          </p:cNvPr>
          <p:cNvSpPr>
            <a:spLocks noGrp="1"/>
          </p:cNvSpPr>
          <p:nvPr/>
        </p:nvSpPr>
        <p:spPr>
          <a:xfrm>
            <a:off x="762000" y="5867400"/>
            <a:ext cx="10477500" cy="4476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68788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87887"/>
                </a:solidFill>
                <a:latin typeface="Aptos"/>
                <a:ea typeface="Aptos"/>
                <a:cs typeface="Aptos"/>
              </a:rPr>
              <a:t>Current random splitting does not directly test temporal or employer generalization.</a:t>
            </a:r>
          </a:p>
        </p:txBody>
      </p:sp>
    </p:spTree>
    <p:extLst>
      <p:ext uri="{BB962C8B-B14F-4D97-AF65-F5344CB8AC3E}">
        <p14:creationId xmlns:p14="http://schemas.microsoft.com/office/powerpoint/2010/main" val="12666151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9F4FA56B-B216-4EB6-B52E-5905344DEEA0}"/>
              </a:ext>
            </a:extLst>
          </p:cNvPr>
          <p:cNvSpPr>
            <a:spLocks noGrp="1"/>
          </p:cNvSpPr>
          <p:nvPr/>
        </p:nvSpPr>
        <p:spPr>
          <a:xfrm>
            <a:off x="666750" y="428625"/>
            <a:ext cx="1085850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172B45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172B45"/>
                </a:solidFill>
                <a:latin typeface="Aptos"/>
                <a:ea typeface="Aptos"/>
                <a:cs typeface="Aptos"/>
              </a:rPr>
              <a:t>Conclusions and intended use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D61D0E8-FED6-4E21-8B50-035CB17074B8}"/>
              </a:ext>
            </a:extLst>
          </p:cNvPr>
          <p:cNvSpPr>
            <a:spLocks noGrp="1"/>
          </p:cNvSpPr>
          <p:nvPr/>
        </p:nvSpPr>
        <p:spPr>
          <a:xfrm>
            <a:off x="11334750" y="6381750"/>
            <a:ext cx="381000" cy="238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68788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87887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85F9C57-29E0-4419-9C4F-5F91C74C4C08}"/>
              </a:ext>
            </a:extLst>
          </p:cNvPr>
          <p:cNvSpPr>
            <a:spLocks noGrp="1"/>
          </p:cNvSpPr>
          <p:nvPr/>
        </p:nvSpPr>
        <p:spPr>
          <a:xfrm>
            <a:off x="762000" y="1571625"/>
            <a:ext cx="1057275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0">
                <a:solidFill>
                  <a:srgbClr val="172B45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72B45"/>
                </a:solidFill>
                <a:latin typeface="Aptos"/>
                <a:ea typeface="Aptos"/>
                <a:cs typeface="Aptos"/>
              </a:rPr>
              <a:t>Specializations correspond to recognizable technical skill profiles in this dataset.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5D085F-3ADA-4C50-9086-3E54C70D4446}"/>
              </a:ext>
            </a:extLst>
          </p:cNvPr>
          <p:cNvSpPr>
            <a:spLocks noGrp="1"/>
          </p:cNvSpPr>
          <p:nvPr/>
        </p:nvSpPr>
        <p:spPr>
          <a:xfrm>
            <a:off x="762000" y="2571750"/>
            <a:ext cx="1057275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0">
                <a:solidFill>
                  <a:srgbClr val="172B45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72B45"/>
                </a:solidFill>
                <a:latin typeface="Aptos"/>
                <a:ea typeface="Aptos"/>
                <a:cs typeface="Aptos"/>
              </a:rPr>
              <a:t>The workflow demonstrates cleaning, feature engineering, tuning, and held-out evaluation. Experience dominates the current salary models.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57FE2C0-1712-48E9-AC6F-7E2AFDC9B258}"/>
              </a:ext>
            </a:extLst>
          </p:cNvPr>
          <p:cNvSpPr>
            <a:spLocks noGrp="1"/>
          </p:cNvSpPr>
          <p:nvPr/>
        </p:nvSpPr>
        <p:spPr>
          <a:xfrm>
            <a:off x="762000" y="3571875"/>
            <a:ext cx="1057275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0">
                <a:solidFill>
                  <a:srgbClr val="172B45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72B45"/>
                </a:solidFill>
                <a:latin typeface="Aptos"/>
                <a:ea typeface="Aptos"/>
                <a:cs typeface="Aptos"/>
              </a:rPr>
              <a:t>Skill findings can inform hiring criteria and curricula. Salary planning requires corrected data and rerun results.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41F885A-DA9D-4BC5-BB1D-990DE88F1AA8}"/>
              </a:ext>
            </a:extLst>
          </p:cNvPr>
          <p:cNvSpPr>
            <a:spLocks noGrp="1"/>
          </p:cNvSpPr>
          <p:nvPr/>
        </p:nvSpPr>
        <p:spPr>
          <a:xfrm>
            <a:off x="762000" y="5867400"/>
            <a:ext cx="10477500" cy="4476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68788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87887"/>
                </a:solidFill>
                <a:latin typeface="Aptos"/>
                <a:ea typeface="Aptos"/>
                <a:cs typeface="Aptos"/>
              </a:rPr>
              <a:t>Discussion: Which additional job characteristics would improve the analysis after data correction?</a:t>
            </a:r>
          </a:p>
        </p:txBody>
      </p:sp>
    </p:spTree>
    <p:extLst>
      <p:ext uri="{BB962C8B-B14F-4D97-AF65-F5344CB8AC3E}">
        <p14:creationId xmlns:p14="http://schemas.microsoft.com/office/powerpoint/2010/main" val="6429717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78</TotalTime>
  <Words>1162</Words>
  <Application>Microsoft Office PowerPoint</Application>
  <DocSecurity>0</DocSecurity>
  <PresentationFormat>Widescreen</PresentationFormat>
  <Paragraphs>167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Aptos</vt:lpstr>
      <vt:lpstr>Aptos Display</vt:lpstr>
      <vt:lpstr>Arial</vt:lpstr>
      <vt:lpstr>Office Theme</vt:lpstr>
      <vt:lpstr>AI Jobs Project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Bruno Sanchez</cp:lastModifiedBy>
  <cp:revision>1</cp:revision>
  <dcterms:created xsi:type="dcterms:W3CDTF">2026-10-01T17:03:01Z</dcterms:created>
  <dcterms:modified xsi:type="dcterms:W3CDTF">2026-10-01T19:43:43Z</dcterms:modified>
</cp:coreProperties>
</file>